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02" autoAdjust="0"/>
  </p:normalViewPr>
  <p:slideViewPr>
    <p:cSldViewPr snapToGrid="0" snapToObjects="1">
      <p:cViewPr varScale="1">
        <p:scale>
          <a:sx n="81" d="100"/>
          <a:sy n="81" d="100"/>
        </p:scale>
        <p:origin x="14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HOOK (30 sec). Play an audio recording of this sentence, spoken hesitantly. Then ask the room: 'Which of the 47 tabs would you click?' Keep it light but kind: the joke is on the website maze, never on the person. Then: 'We built something simpler.'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(30 sec). Three reasons people give up: too many offices, too many topics, and people do not speak in official terms. Optional: show your own stopwatch result from trying to find the right office on the real website.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(30 sec). Four steps from the user's point of view. Key point: the assistant only guides people to the right office, it does not give counseling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TECH (40 sec). Walk left to right in one breath: speech to text, an LLM extracts topic and place, hybrid retrieval (filter first, then semantic ranking over embeddings), the LLM answers only from retrieved records, text to speech. The knowledge base comes from crawling the Caritas website. Two guardrails: contact data is only ever taken from records, never generated, and crisis words trigger an emergency answer. ADJUST the box names to your real stack (e.g. Whisper, your embedding model, vector DB) if you want to name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(100 sec). Switch to the live app. Do the three examples fast, then invite someone from the audience to say a free sentence. Have a recorded video as backup in case microphone, Wi-Fi or room noise fail. Adjust the three phrases to what your system really handles.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LEARNINGS (30 sec). Replace these three examples with your real bugs from the hackathon. The funnier and more honest, the better. The phone number story shows responsibility: an AI must never invent contact details for people who need help.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(30 sec). Call back to the hook: 'From 47 tabs to one sentence.' One sentence on impact: people in difficult situations often hesitate to ask for help, so every hurdle we remove makes it more likely that they call. Then thank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RITAS_RED">
    <p:bg>
      <p:bgPr>
        <a:solidFill>
          <a:schemeClr val="accent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D7F194F-61BD-4B92-A712-C2EFDC060814}"/>
              </a:ext>
            </a:extLst>
          </p:cNvPr>
          <p:cNvSpPr>
            <a:spLocks noGrp="1"/>
          </p:cNvSpPr>
          <p:nvPr>
            <p:ph type="title" idx="100" hasCustomPrompt="1"/>
          </p:nvPr>
        </p:nvSpPr>
        <p:spPr>
          <a:xfrm>
            <a:off x="548640" y="365760"/>
            <a:ext cx="8046720" cy="914400"/>
          </a:xfrm>
          <a:prstGeom prst="rect">
            <a:avLst/>
          </a:prstGeom>
          <a:noFill/>
        </p:spPr>
        <p:txBody>
          <a:bodyPr wrap="square"/>
          <a:lstStyle>
            <a:lvl1pPr marL="0" indent="0" algn="l">
              <a:buNone/>
              <a:defRPr sz="3200" b="1">
                <a:solidFill>
                  <a:schemeClr val="bg1"/>
                </a:solidFill>
              </a:defRPr>
            </a:lvl1pPr>
          </a:lstStyle>
          <a:p>
            <a:pPr marL="0" indent="0" algn="l">
              <a:buNone/>
            </a:pPr>
            <a:endParaRPr sz="3200"/>
          </a:p>
        </p:txBody>
      </p:sp>
      <p:sp>
        <p:nvSpPr>
          <p:cNvPr id="3" name="Logo background">
            <a:extLst>
              <a:ext uri="{FF2B5EF4-FFF2-40B4-BE49-F238E27FC236}">
                <a16:creationId xmlns:a16="http://schemas.microsoft.com/office/drawing/2014/main" id="{EBAA04DB-6713-47BF-90D6-008BA5BB0DEA}"/>
              </a:ext>
            </a:extLst>
          </p:cNvPr>
          <p:cNvSpPr>
            <a:spLocks noGrp="1"/>
          </p:cNvSpPr>
          <p:nvPr/>
        </p:nvSpPr>
        <p:spPr>
          <a:xfrm>
            <a:off x="8138160" y="4251960"/>
            <a:ext cx="612648" cy="768096"/>
          </a:xfrm>
          <a:prstGeom prst="rect">
            <a:avLst/>
          </a:prstGeom>
          <a:solidFill>
            <a:schemeClr val="bg1"/>
          </a:solidFill>
          <a:ln>
            <a:noFill/>
          </a:ln>
        </p:spPr>
        <p:txBody>
          <a:bodyPr/>
          <a:lstStyle/>
          <a:p>
            <a:endParaRPr/>
          </a:p>
        </p:txBody>
      </p:sp>
      <p:pic>
        <p:nvPicPr>
          <p:cNvPr id="4" name="Caritas Logo">
            <a:extLst>
              <a:ext uri="{FF2B5EF4-FFF2-40B4-BE49-F238E27FC236}">
                <a16:creationId xmlns:a16="http://schemas.microsoft.com/office/drawing/2014/main" id="{605D87C0-D3A6-47B4-A307-37105DA4913F}"/>
              </a:ext>
            </a:extLst>
          </p:cNvPr>
          <p:cNvPicPr>
            <a:picLocks noChangeAspect="1"/>
          </p:cNvPicPr>
          <p:nvPr/>
        </p:nvPicPr>
        <p:blipFill>
          <a:blip r:embed="rId2"/>
          <a:stretch>
            <a:fillRect/>
          </a:stretch>
        </p:blipFill>
        <p:spPr>
          <a:xfrm>
            <a:off x="8202168" y="4315968"/>
            <a:ext cx="484632" cy="6400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RITAS_WHITE">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8F0A9C-2501-4DA8-BE13-73F12E560650}"/>
              </a:ext>
            </a:extLst>
          </p:cNvPr>
          <p:cNvSpPr>
            <a:spLocks noGrp="1"/>
          </p:cNvSpPr>
          <p:nvPr>
            <p:ph type="title" idx="100" hasCustomPrompt="1"/>
          </p:nvPr>
        </p:nvSpPr>
        <p:spPr>
          <a:xfrm>
            <a:off x="548640" y="365760"/>
            <a:ext cx="8046720" cy="914400"/>
          </a:xfrm>
          <a:prstGeom prst="rect">
            <a:avLst/>
          </a:prstGeom>
          <a:noFill/>
        </p:spPr>
        <p:txBody>
          <a:bodyPr wrap="square"/>
          <a:lstStyle>
            <a:lvl1pPr marL="0" indent="0" algn="l">
              <a:buNone/>
              <a:defRPr sz="3200" b="1">
                <a:solidFill>
                  <a:schemeClr val="tx1"/>
                </a:solidFill>
              </a:defRPr>
            </a:lvl1pPr>
          </a:lstStyle>
          <a:p>
            <a:pPr marL="0" indent="0" algn="l">
              <a:buNone/>
            </a:pPr>
            <a:endParaRPr sz="3200"/>
          </a:p>
        </p:txBody>
      </p:sp>
      <p:sp>
        <p:nvSpPr>
          <p:cNvPr id="3" name="Logo background">
            <a:extLst>
              <a:ext uri="{FF2B5EF4-FFF2-40B4-BE49-F238E27FC236}">
                <a16:creationId xmlns:a16="http://schemas.microsoft.com/office/drawing/2014/main" id="{9115779D-E6A3-4134-BE01-8E6C8E8A807F}"/>
              </a:ext>
            </a:extLst>
          </p:cNvPr>
          <p:cNvSpPr>
            <a:spLocks noGrp="1"/>
          </p:cNvSpPr>
          <p:nvPr/>
        </p:nvSpPr>
        <p:spPr>
          <a:xfrm>
            <a:off x="8138160" y="4251960"/>
            <a:ext cx="612648" cy="768096"/>
          </a:xfrm>
          <a:prstGeom prst="rect">
            <a:avLst/>
          </a:prstGeom>
          <a:solidFill>
            <a:schemeClr val="bg1"/>
          </a:solidFill>
          <a:ln>
            <a:noFill/>
          </a:ln>
        </p:spPr>
        <p:txBody>
          <a:bodyPr/>
          <a:lstStyle/>
          <a:p>
            <a:endParaRPr lang="en-GB"/>
          </a:p>
        </p:txBody>
      </p:sp>
      <p:pic>
        <p:nvPicPr>
          <p:cNvPr id="4" name="Caritas Logo">
            <a:extLst>
              <a:ext uri="{FF2B5EF4-FFF2-40B4-BE49-F238E27FC236}">
                <a16:creationId xmlns:a16="http://schemas.microsoft.com/office/drawing/2014/main" id="{924B9834-43B6-4104-8BEF-A06B765E3CED}"/>
              </a:ext>
            </a:extLst>
          </p:cNvPr>
          <p:cNvPicPr>
            <a:picLocks noChangeAspect="1"/>
          </p:cNvPicPr>
          <p:nvPr/>
        </p:nvPicPr>
        <p:blipFill>
          <a:blip r:embed="rId2"/>
          <a:stretch>
            <a:fillRect/>
          </a:stretch>
        </p:blipFill>
        <p:spPr>
          <a:xfrm>
            <a:off x="8202168" y="4315968"/>
            <a:ext cx="484632" cy="6400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41276E9-8FDF-4A06-9057-B9366BCDFDD8}"/>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lang="en-GB" sz="3200" b="1" dirty="0">
                <a:solidFill>
                  <a:schemeClr val="bg1"/>
                </a:solidFill>
              </a:rPr>
              <a:t>You need the right help.</a:t>
            </a:r>
            <a:r>
              <a:rPr sz="3200" b="1" dirty="0">
                <a:solidFill>
                  <a:schemeClr val="bg1"/>
                </a:solidFill>
              </a:rPr>
              <a:t> Where do you turn?</a:t>
            </a:r>
            <a:endParaRPr sz="3200" dirty="0"/>
          </a:p>
        </p:txBody>
      </p:sp>
      <p:sp>
        <p:nvSpPr>
          <p:cNvPr id="3" name="Microphone circle">
            <a:extLst>
              <a:ext uri="{FF2B5EF4-FFF2-40B4-BE49-F238E27FC236}">
                <a16:creationId xmlns:a16="http://schemas.microsoft.com/office/drawing/2014/main" id="{13415915-8791-45D7-8AB5-E79CE28EBACF}"/>
              </a:ext>
            </a:extLst>
          </p:cNvPr>
          <p:cNvSpPr>
            <a:spLocks noGrp="1"/>
          </p:cNvSpPr>
          <p:nvPr/>
        </p:nvSpPr>
        <p:spPr>
          <a:xfrm>
            <a:off x="548640" y="1783080"/>
            <a:ext cx="1005840" cy="1005840"/>
          </a:xfrm>
          <a:prstGeom prst="ellipse">
            <a:avLst/>
          </a:prstGeom>
          <a:solidFill>
            <a:schemeClr val="bg1"/>
          </a:solidFill>
        </p:spPr>
        <p:txBody>
          <a:bodyPr/>
          <a:lstStyle/>
          <a:p>
            <a:endParaRPr/>
          </a:p>
        </p:txBody>
      </p:sp>
      <p:pic>
        <p:nvPicPr>
          <p:cNvPr id="4" name="Microphone icon">
            <a:extLst>
              <a:ext uri="{FF2B5EF4-FFF2-40B4-BE49-F238E27FC236}">
                <a16:creationId xmlns:a16="http://schemas.microsoft.com/office/drawing/2014/main" id="{3DFC0F7D-966F-47B3-B67C-DC2836D489E1}"/>
              </a:ext>
            </a:extLst>
          </p:cNvPr>
          <p:cNvPicPr>
            <a:picLocks noChangeAspect="1"/>
          </p:cNvPicPr>
          <p:nvPr/>
        </p:nvPicPr>
        <p:blipFill>
          <a:blip r:embed="rId3"/>
          <a:stretch>
            <a:fillRect/>
          </a:stretch>
        </p:blipFill>
        <p:spPr>
          <a:xfrm>
            <a:off x="820217" y="2054657"/>
            <a:ext cx="462686" cy="462686"/>
          </a:xfrm>
          <a:prstGeom prst="rect">
            <a:avLst/>
          </a:prstGeom>
        </p:spPr>
      </p:pic>
      <p:sp>
        <p:nvSpPr>
          <p:cNvPr id="5" name="Speech bubble">
            <a:extLst>
              <a:ext uri="{FF2B5EF4-FFF2-40B4-BE49-F238E27FC236}">
                <a16:creationId xmlns:a16="http://schemas.microsoft.com/office/drawing/2014/main" id="{AEE120C6-638A-429C-9516-CCAB31565174}"/>
              </a:ext>
            </a:extLst>
          </p:cNvPr>
          <p:cNvSpPr>
            <a:spLocks noGrp="1"/>
          </p:cNvSpPr>
          <p:nvPr/>
        </p:nvSpPr>
        <p:spPr>
          <a:xfrm>
            <a:off x="1828800" y="1554480"/>
            <a:ext cx="6766560" cy="1463040"/>
          </a:xfrm>
          <a:prstGeom prst="roundRect">
            <a:avLst>
              <a:gd name="adj" fmla="val 15625"/>
            </a:avLst>
          </a:prstGeom>
          <a:solidFill>
            <a:schemeClr val="bg1"/>
          </a:solidFill>
          <a:effectLst>
            <a:outerShdw blurRad="101600" dist="25400" dir="5400000" algn="bl" rotWithShape="0">
              <a:srgbClr val="2B2B2B">
                <a:alpha val="12000"/>
              </a:srgbClr>
            </a:outerShdw>
          </a:effectLst>
        </p:spPr>
        <p:txBody>
          <a:bodyPr/>
          <a:lstStyle/>
          <a:p>
            <a:endParaRPr/>
          </a:p>
        </p:txBody>
      </p:sp>
      <p:sp>
        <p:nvSpPr>
          <p:cNvPr id="6" name="Quote">
            <a:extLst>
              <a:ext uri="{FF2B5EF4-FFF2-40B4-BE49-F238E27FC236}">
                <a16:creationId xmlns:a16="http://schemas.microsoft.com/office/drawing/2014/main" id="{44647B78-6B53-4F69-9C5D-F92F911AAFDB}"/>
              </a:ext>
            </a:extLst>
          </p:cNvPr>
          <p:cNvSpPr>
            <a:spLocks noGrp="1"/>
          </p:cNvSpPr>
          <p:nvPr/>
        </p:nvSpPr>
        <p:spPr>
          <a:xfrm>
            <a:off x="2103120" y="1645920"/>
            <a:ext cx="6217920" cy="1280160"/>
          </a:xfrm>
          <a:prstGeom prst="rect">
            <a:avLst/>
          </a:prstGeom>
          <a:noFill/>
        </p:spPr>
        <p:txBody>
          <a:bodyPr wrap="square" lIns="0" tIns="0" rIns="0" bIns="0" anchor="ctr"/>
          <a:lstStyle/>
          <a:p>
            <a:pPr marL="0" indent="0">
              <a:buNone/>
            </a:pPr>
            <a:r>
              <a:rPr sz="2500" b="1" i="1" dirty="0">
                <a:solidFill>
                  <a:schemeClr val="tx1"/>
                </a:solidFill>
              </a:rPr>
              <a:t>“</a:t>
            </a:r>
            <a:r>
              <a:rPr lang="de-DE" sz="2500" b="1" i="1" dirty="0"/>
              <a:t>My </a:t>
            </a:r>
            <a:r>
              <a:rPr lang="de-DE" sz="2500" b="1" i="1" dirty="0" err="1"/>
              <a:t>landlord</a:t>
            </a:r>
            <a:r>
              <a:rPr lang="de-DE" sz="2500" b="1" i="1" dirty="0"/>
              <a:t> just </a:t>
            </a:r>
            <a:r>
              <a:rPr lang="de-DE" sz="2500" b="1" i="1" dirty="0" err="1"/>
              <a:t>kicked</a:t>
            </a:r>
            <a:r>
              <a:rPr lang="de-DE" sz="2500" b="1" i="1" dirty="0"/>
              <a:t> </a:t>
            </a:r>
            <a:r>
              <a:rPr lang="de-DE" sz="2500" b="1" i="1" dirty="0" err="1"/>
              <a:t>me</a:t>
            </a:r>
            <a:r>
              <a:rPr lang="de-DE" sz="2500" b="1" i="1" dirty="0"/>
              <a:t> out. What do I do now?</a:t>
            </a:r>
            <a:r>
              <a:rPr sz="2500" b="1" i="1" dirty="0">
                <a:solidFill>
                  <a:schemeClr val="tx1"/>
                </a:solidFill>
              </a:rPr>
              <a:t>”</a:t>
            </a:r>
            <a:endParaRPr sz="2500" dirty="0"/>
          </a:p>
        </p:txBody>
      </p:sp>
      <p:sp>
        <p:nvSpPr>
          <p:cNvPr id="7" name="Punchline">
            <a:extLst>
              <a:ext uri="{FF2B5EF4-FFF2-40B4-BE49-F238E27FC236}">
                <a16:creationId xmlns:a16="http://schemas.microsoft.com/office/drawing/2014/main" id="{15ED1C01-664A-46D4-9305-F0C112D3B3D2}"/>
              </a:ext>
            </a:extLst>
          </p:cNvPr>
          <p:cNvSpPr>
            <a:spLocks noGrp="1"/>
          </p:cNvSpPr>
          <p:nvPr/>
        </p:nvSpPr>
        <p:spPr>
          <a:xfrm>
            <a:off x="1828800" y="3291840"/>
            <a:ext cx="6766560" cy="457200"/>
          </a:xfrm>
          <a:prstGeom prst="rect">
            <a:avLst/>
          </a:prstGeom>
          <a:noFill/>
        </p:spPr>
        <p:txBody>
          <a:bodyPr wrap="square" lIns="0" tIns="0" rIns="0" bIns="0" anchor="ctr"/>
          <a:lstStyle/>
          <a:p>
            <a:pPr marL="0" indent="0">
              <a:buNone/>
            </a:pPr>
            <a:r>
              <a:rPr sz="2000" b="1">
                <a:solidFill>
                  <a:schemeClr val="bg1"/>
                </a:solidFill>
              </a:rPr>
              <a:t>47 tabs later, still no clear answer.</a:t>
            </a:r>
            <a:endParaRPr sz="2000"/>
          </a:p>
        </p:txBody>
      </p:sp>
      <p:sp>
        <p:nvSpPr>
          <p:cNvPr id="8" name="Subtitle">
            <a:extLst>
              <a:ext uri="{FF2B5EF4-FFF2-40B4-BE49-F238E27FC236}">
                <a16:creationId xmlns:a16="http://schemas.microsoft.com/office/drawing/2014/main" id="{CBDA7926-F91D-4247-905E-225C09A1AEA4}"/>
              </a:ext>
            </a:extLst>
          </p:cNvPr>
          <p:cNvSpPr>
            <a:spLocks noGrp="1"/>
          </p:cNvSpPr>
          <p:nvPr/>
        </p:nvSpPr>
        <p:spPr>
          <a:xfrm>
            <a:off x="2103120" y="3974123"/>
            <a:ext cx="6400800" cy="502920"/>
          </a:xfrm>
          <a:prstGeom prst="rect">
            <a:avLst/>
          </a:prstGeom>
          <a:noFill/>
        </p:spPr>
        <p:txBody>
          <a:bodyPr wrap="square" lIns="0" tIns="0" rIns="0" bIns="0" anchor="ctr"/>
          <a:lstStyle/>
          <a:p>
            <a:pPr marL="0" indent="0">
              <a:buNone/>
            </a:pPr>
            <a:endParaRPr/>
          </a:p>
        </p:txBody>
      </p:sp>
    </p:spTree>
    <p:extLst>
      <p:ext uri="{BB962C8B-B14F-4D97-AF65-F5344CB8AC3E}">
        <p14:creationId xmlns:p14="http://schemas.microsoft.com/office/powerpoint/2010/main" val="25151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ffices card">
            <a:extLst>
              <a:ext uri="{FF2B5EF4-FFF2-40B4-BE49-F238E27FC236}">
                <a16:creationId xmlns:a16="http://schemas.microsoft.com/office/drawing/2014/main" id="{A07969D9-8869-04FE-0A0D-F61E6496CF3B}"/>
              </a:ext>
            </a:extLst>
          </p:cNvPr>
          <p:cNvSpPr>
            <a:spLocks noGrp="1"/>
          </p:cNvSpPr>
          <p:nvPr/>
        </p:nvSpPr>
        <p:spPr>
          <a:xfrm>
            <a:off x="1550963" y="1048043"/>
            <a:ext cx="6042074" cy="2560320"/>
          </a:xfrm>
          <a:prstGeom prst="roundRect">
            <a:avLst>
              <a:gd name="adj" fmla="val 5357"/>
            </a:avLst>
          </a:prstGeom>
          <a:noFill/>
        </p:spPr>
        <p:txBody>
          <a:bodyPr/>
          <a:lstStyle/>
          <a:p>
            <a:endParaRPr/>
          </a:p>
        </p:txBody>
      </p:sp>
      <p:sp>
        <p:nvSpPr>
          <p:cNvPr id="2" name="Titel 1">
            <a:extLst>
              <a:ext uri="{FF2B5EF4-FFF2-40B4-BE49-F238E27FC236}">
                <a16:creationId xmlns:a16="http://schemas.microsoft.com/office/drawing/2014/main" id="{07265203-E255-031D-F060-1C912547DE32}"/>
              </a:ext>
            </a:extLst>
          </p:cNvPr>
          <p:cNvSpPr>
            <a:spLocks noGrp="1"/>
          </p:cNvSpPr>
          <p:nvPr>
            <p:ph type="title" idx="100"/>
          </p:nvPr>
        </p:nvSpPr>
        <p:spPr>
          <a:xfrm>
            <a:off x="548640" y="857250"/>
            <a:ext cx="8046720" cy="762000"/>
          </a:xfrm>
        </p:spPr>
        <p:txBody>
          <a:bodyPr/>
          <a:lstStyle>
            <a:defPPr algn="ctr">
              <a:defRPr sz="4000" b="1">
                <a:solidFill>
                  <a:srgbClr val="E2001A"/>
                </a:solidFill>
                <a:latin typeface="Calibri"/>
                <a:ea typeface="Calibri"/>
                <a:cs typeface="Calibri"/>
              </a:defRPr>
            </a:defPPr>
            <a:lvl1pPr algn="ctr">
              <a:buNone/>
              <a:defRPr sz="4000" b="1">
                <a:solidFill>
                  <a:srgbClr val="E2001A"/>
                </a:solidFill>
                <a:latin typeface="Calibri"/>
                <a:ea typeface="Calibri"/>
                <a:cs typeface="Calibri"/>
              </a:defRPr>
            </a:lvl1pPr>
            <a:lvl2pPr algn="ctr">
              <a:buNone/>
              <a:defRPr sz="4000" b="1">
                <a:solidFill>
                  <a:srgbClr val="E2001A"/>
                </a:solidFill>
                <a:latin typeface="Calibri"/>
                <a:ea typeface="Calibri"/>
                <a:cs typeface="Calibri"/>
              </a:defRPr>
            </a:lvl2pPr>
            <a:lvl3pPr algn="ctr">
              <a:buNone/>
              <a:defRPr sz="4000" b="1">
                <a:solidFill>
                  <a:srgbClr val="E2001A"/>
                </a:solidFill>
                <a:latin typeface="Calibri"/>
                <a:ea typeface="Calibri"/>
                <a:cs typeface="Calibri"/>
              </a:defRPr>
            </a:lvl3pPr>
            <a:lvl4pPr algn="ctr">
              <a:buNone/>
              <a:defRPr sz="4000" b="1">
                <a:solidFill>
                  <a:srgbClr val="E2001A"/>
                </a:solidFill>
                <a:latin typeface="Calibri"/>
                <a:ea typeface="Calibri"/>
                <a:cs typeface="Calibri"/>
              </a:defRPr>
            </a:lvl4pPr>
            <a:lvl5pPr algn="ctr">
              <a:buNone/>
              <a:defRPr sz="4000" b="1">
                <a:solidFill>
                  <a:srgbClr val="E2001A"/>
                </a:solidFill>
                <a:latin typeface="Calibri"/>
                <a:ea typeface="Calibri"/>
                <a:cs typeface="Calibri"/>
              </a:defRPr>
            </a:lvl5pPr>
            <a:lvl6pPr algn="ctr">
              <a:buNone/>
              <a:defRPr sz="4000" b="1">
                <a:solidFill>
                  <a:srgbClr val="E2001A"/>
                </a:solidFill>
                <a:latin typeface="Calibri"/>
                <a:ea typeface="Calibri"/>
                <a:cs typeface="Calibri"/>
              </a:defRPr>
            </a:lvl6pPr>
            <a:lvl7pPr algn="ctr">
              <a:buNone/>
              <a:defRPr sz="4000" b="1">
                <a:solidFill>
                  <a:srgbClr val="E2001A"/>
                </a:solidFill>
                <a:latin typeface="Calibri"/>
                <a:ea typeface="Calibri"/>
                <a:cs typeface="Calibri"/>
              </a:defRPr>
            </a:lvl7pPr>
            <a:lvl8pPr algn="ctr">
              <a:buNone/>
              <a:defRPr sz="4000" b="1">
                <a:solidFill>
                  <a:srgbClr val="E2001A"/>
                </a:solidFill>
                <a:latin typeface="Calibri"/>
                <a:ea typeface="Calibri"/>
                <a:cs typeface="Calibri"/>
              </a:defRPr>
            </a:lvl8pPr>
            <a:lvl9pPr algn="ctr">
              <a:buNone/>
              <a:defRPr sz="4000" b="1">
                <a:solidFill>
                  <a:srgbClr val="E2001A"/>
                </a:solidFill>
                <a:latin typeface="Calibri"/>
                <a:ea typeface="Calibri"/>
                <a:cs typeface="Calibri"/>
              </a:defRPr>
            </a:lvl9pPr>
          </a:lstStyle>
          <a:p>
            <a:pPr algn="ctr">
              <a:buNone/>
              <a:defRPr sz="4000" b="1">
                <a:solidFill>
                  <a:srgbClr val="E2001A"/>
                </a:solidFill>
                <a:latin typeface="Calibri"/>
                <a:ea typeface="Calibri"/>
                <a:cs typeface="Calibri"/>
              </a:defRPr>
            </a:pPr>
            <a:r>
              <a:rPr sz="4000" b="1">
                <a:solidFill>
                  <a:srgbClr val="E2001A"/>
                </a:solidFill>
                <a:latin typeface="Calibri"/>
                <a:ea typeface="Calibri"/>
                <a:cs typeface="Calibri"/>
              </a:rPr>
              <a:t>Caritas HEARO</a:t>
            </a:r>
          </a:p>
        </p:txBody>
      </p:sp>
      <p:sp>
        <p:nvSpPr>
          <p:cNvPr id="3" name="Textfeld 2">
            <a:extLst>
              <a:ext uri="{FF2B5EF4-FFF2-40B4-BE49-F238E27FC236}">
                <a16:creationId xmlns:a16="http://schemas.microsoft.com/office/drawing/2014/main" id="{469A9DCB-EB36-B39B-D4B9-D8C1790DABA4}"/>
              </a:ext>
            </a:extLst>
          </p:cNvPr>
          <p:cNvSpPr>
            <a:spLocks noGrp="1"/>
          </p:cNvSpPr>
          <p:nvPr/>
        </p:nvSpPr>
        <p:spPr>
          <a:xfrm>
            <a:off x="548640" y="1714500"/>
            <a:ext cx="8046720" cy="396240"/>
          </a:xfrm>
          <a:prstGeom prst="rect">
            <a:avLst/>
          </a:prstGeom>
          <a:noFill/>
        </p:spPr>
        <p:txBody>
          <a:bodyPr wrap="square">
            <a:spAutoFit/>
          </a:bodyPr>
          <a:lstStyle>
            <a:defPPr algn="ctr">
              <a:defRPr sz="2000" i="1">
                <a:solidFill>
                  <a:srgbClr val="2B2B2B"/>
                </a:solidFill>
                <a:latin typeface="Calibri"/>
                <a:ea typeface="Calibri"/>
                <a:cs typeface="Calibri"/>
              </a:defRPr>
            </a:defPPr>
            <a:lvl1pPr algn="ctr">
              <a:buNone/>
              <a:defRPr sz="2000" i="1">
                <a:solidFill>
                  <a:srgbClr val="2B2B2B"/>
                </a:solidFill>
                <a:latin typeface="Calibri"/>
                <a:ea typeface="Calibri"/>
                <a:cs typeface="Calibri"/>
              </a:defRPr>
            </a:lvl1pPr>
            <a:lvl2pPr algn="ctr">
              <a:buNone/>
              <a:defRPr sz="2000" i="1">
                <a:solidFill>
                  <a:srgbClr val="2B2B2B"/>
                </a:solidFill>
                <a:latin typeface="Calibri"/>
                <a:ea typeface="Calibri"/>
                <a:cs typeface="Calibri"/>
              </a:defRPr>
            </a:lvl2pPr>
            <a:lvl3pPr algn="ctr">
              <a:buNone/>
              <a:defRPr sz="2000" i="1">
                <a:solidFill>
                  <a:srgbClr val="2B2B2B"/>
                </a:solidFill>
                <a:latin typeface="Calibri"/>
                <a:ea typeface="Calibri"/>
                <a:cs typeface="Calibri"/>
              </a:defRPr>
            </a:lvl3pPr>
            <a:lvl4pPr algn="ctr">
              <a:buNone/>
              <a:defRPr sz="2000" i="1">
                <a:solidFill>
                  <a:srgbClr val="2B2B2B"/>
                </a:solidFill>
                <a:latin typeface="Calibri"/>
                <a:ea typeface="Calibri"/>
                <a:cs typeface="Calibri"/>
              </a:defRPr>
            </a:lvl4pPr>
            <a:lvl5pPr algn="ctr">
              <a:buNone/>
              <a:defRPr sz="2000" i="1">
                <a:solidFill>
                  <a:srgbClr val="2B2B2B"/>
                </a:solidFill>
                <a:latin typeface="Calibri"/>
                <a:ea typeface="Calibri"/>
                <a:cs typeface="Calibri"/>
              </a:defRPr>
            </a:lvl5pPr>
            <a:lvl6pPr algn="ctr">
              <a:buNone/>
              <a:defRPr sz="2000" i="1">
                <a:solidFill>
                  <a:srgbClr val="2B2B2B"/>
                </a:solidFill>
                <a:latin typeface="Calibri"/>
                <a:ea typeface="Calibri"/>
                <a:cs typeface="Calibri"/>
              </a:defRPr>
            </a:lvl6pPr>
            <a:lvl7pPr algn="ctr">
              <a:buNone/>
              <a:defRPr sz="2000" i="1">
                <a:solidFill>
                  <a:srgbClr val="2B2B2B"/>
                </a:solidFill>
                <a:latin typeface="Calibri"/>
                <a:ea typeface="Calibri"/>
                <a:cs typeface="Calibri"/>
              </a:defRPr>
            </a:lvl7pPr>
            <a:lvl8pPr algn="ctr">
              <a:buNone/>
              <a:defRPr sz="2000" i="1">
                <a:solidFill>
                  <a:srgbClr val="2B2B2B"/>
                </a:solidFill>
                <a:latin typeface="Calibri"/>
                <a:ea typeface="Calibri"/>
                <a:cs typeface="Calibri"/>
              </a:defRPr>
            </a:lvl8pPr>
            <a:lvl9pPr algn="ctr">
              <a:buNone/>
              <a:defRPr sz="2000" i="1">
                <a:solidFill>
                  <a:srgbClr val="2B2B2B"/>
                </a:solidFill>
                <a:latin typeface="Calibri"/>
                <a:ea typeface="Calibri"/>
                <a:cs typeface="Calibri"/>
              </a:defRPr>
            </a:lvl9pPr>
          </a:lstStyle>
          <a:p>
            <a:pPr algn="ctr">
              <a:buNone/>
              <a:defRPr sz="2000" i="1">
                <a:solidFill>
                  <a:srgbClr val="2B2B2B"/>
                </a:solidFill>
                <a:latin typeface="Calibri"/>
                <a:ea typeface="Calibri"/>
                <a:cs typeface="Calibri"/>
              </a:defRPr>
            </a:pPr>
            <a:r>
              <a:rPr sz="2000" i="1">
                <a:solidFill>
                  <a:srgbClr val="2B2B2B"/>
                </a:solidFill>
                <a:latin typeface="Calibri"/>
                <a:ea typeface="Calibri"/>
                <a:cs typeface="Calibri"/>
              </a:rPr>
              <a:t>one conversation to the right support</a:t>
            </a:r>
          </a:p>
        </p:txBody>
      </p:sp>
      <p:pic>
        <p:nvPicPr>
          <p:cNvPr id="6" name="Grafik 5">
            <a:extLst>
              <a:ext uri="{FF2B5EF4-FFF2-40B4-BE49-F238E27FC236}">
                <a16:creationId xmlns:a16="http://schemas.microsoft.com/office/drawing/2014/main" id="{1CE2B14B-9E51-4A64-971B-729EE8684AC0}"/>
              </a:ext>
            </a:extLst>
          </p:cNvPr>
          <p:cNvPicPr>
            <a:picLocks noChangeAspect="1"/>
          </p:cNvPicPr>
          <p:nvPr/>
        </p:nvPicPr>
        <p:blipFill>
          <a:blip r:embed="rId3"/>
          <a:stretch/>
        </p:blipFill>
        <p:spPr>
          <a:xfrm>
            <a:off x="2286000" y="2335941"/>
            <a:ext cx="4572000" cy="1500318"/>
          </a:xfrm>
          <a:prstGeom prst="rect">
            <a:avLst/>
          </a:prstGeom>
        </p:spPr>
      </p:pic>
      <p:sp>
        <p:nvSpPr>
          <p:cNvPr id="7" name="Rechteck 6">
            <a:extLst>
              <a:ext uri="{FF2B5EF4-FFF2-40B4-BE49-F238E27FC236}">
                <a16:creationId xmlns:a16="http://schemas.microsoft.com/office/drawing/2014/main" id="{AFA3453D-0405-4AD4-81D8-86F54F9201B8}"/>
              </a:ext>
            </a:extLst>
          </p:cNvPr>
          <p:cNvSpPr>
            <a:spLocks noGrp="1"/>
          </p:cNvSpPr>
          <p:nvPr/>
        </p:nvSpPr>
        <p:spPr>
          <a:xfrm>
            <a:off x="2190750"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Listen</a:t>
            </a:r>
          </a:p>
        </p:txBody>
      </p:sp>
      <p:sp>
        <p:nvSpPr>
          <p:cNvPr id="8" name="Rechteck 7">
            <a:extLst>
              <a:ext uri="{FF2B5EF4-FFF2-40B4-BE49-F238E27FC236}">
                <a16:creationId xmlns:a16="http://schemas.microsoft.com/office/drawing/2014/main" id="{7050B0C0-CFC1-4C00-AD59-5F3D31F51CAF}"/>
              </a:ext>
            </a:extLst>
          </p:cNvPr>
          <p:cNvSpPr>
            <a:spLocks noGrp="1"/>
          </p:cNvSpPr>
          <p:nvPr/>
        </p:nvSpPr>
        <p:spPr>
          <a:xfrm>
            <a:off x="3381375"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Support</a:t>
            </a:r>
          </a:p>
        </p:txBody>
      </p:sp>
      <p:sp>
        <p:nvSpPr>
          <p:cNvPr id="9" name="Rechteck 8">
            <a:extLst>
              <a:ext uri="{FF2B5EF4-FFF2-40B4-BE49-F238E27FC236}">
                <a16:creationId xmlns:a16="http://schemas.microsoft.com/office/drawing/2014/main" id="{8676AECE-5029-4ACD-92D9-6FC8AEAEB5B7}"/>
              </a:ext>
            </a:extLst>
          </p:cNvPr>
          <p:cNvSpPr>
            <a:spLocks noGrp="1"/>
          </p:cNvSpPr>
          <p:nvPr/>
        </p:nvSpPr>
        <p:spPr>
          <a:xfrm>
            <a:off x="4572000"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Empower</a:t>
            </a:r>
          </a:p>
        </p:txBody>
      </p:sp>
      <p:sp>
        <p:nvSpPr>
          <p:cNvPr id="10" name="Rechteck 9">
            <a:extLst>
              <a:ext uri="{FF2B5EF4-FFF2-40B4-BE49-F238E27FC236}">
                <a16:creationId xmlns:a16="http://schemas.microsoft.com/office/drawing/2014/main" id="{4C148F1F-0695-48FD-A9EE-8F2F79F1530F}"/>
              </a:ext>
            </a:extLst>
          </p:cNvPr>
          <p:cNvSpPr>
            <a:spLocks noGrp="1"/>
          </p:cNvSpPr>
          <p:nvPr/>
        </p:nvSpPr>
        <p:spPr>
          <a:xfrm>
            <a:off x="5762625"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Together</a:t>
            </a:r>
          </a:p>
        </p:txBody>
      </p:sp>
    </p:spTree>
    <p:extLst>
      <p:ext uri="{BB962C8B-B14F-4D97-AF65-F5344CB8AC3E}">
        <p14:creationId xmlns:p14="http://schemas.microsoft.com/office/powerpoint/2010/main" val="270403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B73FD4C-F488-4A10-B11A-D26917FD7C7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The barrier isn't asking for help. It's finding it.</a:t>
            </a:r>
            <a:endParaRPr sz="3200"/>
          </a:p>
        </p:txBody>
      </p:sp>
      <p:sp>
        <p:nvSpPr>
          <p:cNvPr id="3" name="Offices card">
            <a:extLst>
              <a:ext uri="{FF2B5EF4-FFF2-40B4-BE49-F238E27FC236}">
                <a16:creationId xmlns:a16="http://schemas.microsoft.com/office/drawing/2014/main" id="{8CDCCC12-D91F-434F-BF70-63C6B3A2C561}"/>
              </a:ext>
            </a:extLst>
          </p:cNvPr>
          <p:cNvSpPr>
            <a:spLocks noGrp="1"/>
          </p:cNvSpPr>
          <p:nvPr/>
        </p:nvSpPr>
        <p:spPr>
          <a:xfrm>
            <a:off x="457200" y="1463040"/>
            <a:ext cx="2560320" cy="2560320"/>
          </a:xfrm>
          <a:prstGeom prst="roundRect">
            <a:avLst>
              <a:gd name="adj" fmla="val 5357"/>
            </a:avLst>
          </a:prstGeom>
          <a:solidFill>
            <a:schemeClr val="bg2"/>
          </a:solidFill>
        </p:spPr>
        <p:txBody>
          <a:bodyPr/>
          <a:lstStyle/>
          <a:p>
            <a:endParaRPr/>
          </a:p>
        </p:txBody>
      </p:sp>
      <p:sp>
        <p:nvSpPr>
          <p:cNvPr id="4" name="Offices circle">
            <a:extLst>
              <a:ext uri="{FF2B5EF4-FFF2-40B4-BE49-F238E27FC236}">
                <a16:creationId xmlns:a16="http://schemas.microsoft.com/office/drawing/2014/main" id="{23CC3827-EF39-4F3E-9AD5-9D9E1C04C77A}"/>
              </a:ext>
            </a:extLst>
          </p:cNvPr>
          <p:cNvSpPr>
            <a:spLocks noGrp="1"/>
          </p:cNvSpPr>
          <p:nvPr/>
        </p:nvSpPr>
        <p:spPr>
          <a:xfrm>
            <a:off x="731520" y="1737360"/>
            <a:ext cx="731520" cy="731520"/>
          </a:xfrm>
          <a:prstGeom prst="ellipse">
            <a:avLst/>
          </a:prstGeom>
          <a:solidFill>
            <a:schemeClr val="accent1"/>
          </a:solidFill>
        </p:spPr>
        <p:txBody>
          <a:bodyPr/>
          <a:lstStyle/>
          <a:p>
            <a:endParaRPr/>
          </a:p>
        </p:txBody>
      </p:sp>
      <p:pic>
        <p:nvPicPr>
          <p:cNvPr id="5" name="Offices icon">
            <a:extLst>
              <a:ext uri="{FF2B5EF4-FFF2-40B4-BE49-F238E27FC236}">
                <a16:creationId xmlns:a16="http://schemas.microsoft.com/office/drawing/2014/main" id="{D4C7121C-5F74-4E4D-94F4-4B06C115ABD8}"/>
              </a:ext>
            </a:extLst>
          </p:cNvPr>
          <p:cNvPicPr>
            <a:picLocks noChangeAspect="1"/>
          </p:cNvPicPr>
          <p:nvPr/>
        </p:nvPicPr>
        <p:blipFill>
          <a:blip r:embed="rId3"/>
          <a:stretch>
            <a:fillRect/>
          </a:stretch>
        </p:blipFill>
        <p:spPr>
          <a:xfrm>
            <a:off x="929030" y="1934870"/>
            <a:ext cx="336499" cy="336499"/>
          </a:xfrm>
          <a:prstGeom prst="rect">
            <a:avLst/>
          </a:prstGeom>
        </p:spPr>
      </p:pic>
      <p:sp>
        <p:nvSpPr>
          <p:cNvPr id="6" name="Offices heading">
            <a:extLst>
              <a:ext uri="{FF2B5EF4-FFF2-40B4-BE49-F238E27FC236}">
                <a16:creationId xmlns:a16="http://schemas.microsoft.com/office/drawing/2014/main" id="{CB73E2CC-F3E2-459E-B702-06E02B71FD18}"/>
              </a:ext>
            </a:extLst>
          </p:cNvPr>
          <p:cNvSpPr>
            <a:spLocks noGrp="1"/>
          </p:cNvSpPr>
          <p:nvPr/>
        </p:nvSpPr>
        <p:spPr>
          <a:xfrm>
            <a:off x="731520" y="2697480"/>
            <a:ext cx="2103120" cy="411480"/>
          </a:xfrm>
          <a:prstGeom prst="rect">
            <a:avLst/>
          </a:prstGeom>
          <a:noFill/>
        </p:spPr>
        <p:txBody>
          <a:bodyPr wrap="square" lIns="0" tIns="0" rIns="0" bIns="0" anchor="ctr"/>
          <a:lstStyle/>
          <a:p>
            <a:pPr marL="0" indent="0">
              <a:buNone/>
            </a:pPr>
            <a:r>
              <a:rPr sz="2000" b="1" dirty="0">
                <a:solidFill>
                  <a:schemeClr val="tx1"/>
                </a:solidFill>
              </a:rPr>
              <a:t>Too many offices</a:t>
            </a:r>
            <a:endParaRPr sz="2000" dirty="0"/>
          </a:p>
        </p:txBody>
      </p:sp>
      <p:sp>
        <p:nvSpPr>
          <p:cNvPr id="7" name="Offices text">
            <a:extLst>
              <a:ext uri="{FF2B5EF4-FFF2-40B4-BE49-F238E27FC236}">
                <a16:creationId xmlns:a16="http://schemas.microsoft.com/office/drawing/2014/main" id="{CF4080B8-3F60-4BCF-B0DC-D035645F91F0}"/>
              </a:ext>
            </a:extLst>
          </p:cNvPr>
          <p:cNvSpPr>
            <a:spLocks noGrp="1"/>
          </p:cNvSpPr>
          <p:nvPr/>
        </p:nvSpPr>
        <p:spPr>
          <a:xfrm>
            <a:off x="731520" y="3154680"/>
            <a:ext cx="2103120" cy="777240"/>
          </a:xfrm>
          <a:prstGeom prst="rect">
            <a:avLst/>
          </a:prstGeom>
          <a:noFill/>
        </p:spPr>
        <p:txBody>
          <a:bodyPr wrap="square" lIns="0" tIns="0" rIns="0" bIns="0" anchor="t"/>
          <a:lstStyle/>
          <a:p>
            <a:pPr marL="0" indent="0">
              <a:buNone/>
            </a:pPr>
            <a:r>
              <a:rPr sz="1400">
                <a:solidFill>
                  <a:schemeClr val="tx2"/>
                </a:solidFill>
              </a:rPr>
              <a:t>Different regions. Different websites.</a:t>
            </a:r>
            <a:endParaRPr sz="1400"/>
          </a:p>
        </p:txBody>
      </p:sp>
      <p:sp>
        <p:nvSpPr>
          <p:cNvPr id="8" name="Topics card">
            <a:extLst>
              <a:ext uri="{FF2B5EF4-FFF2-40B4-BE49-F238E27FC236}">
                <a16:creationId xmlns:a16="http://schemas.microsoft.com/office/drawing/2014/main" id="{96245285-4C0A-42BA-93DC-E632DC3A9B15}"/>
              </a:ext>
            </a:extLst>
          </p:cNvPr>
          <p:cNvSpPr>
            <a:spLocks noGrp="1"/>
          </p:cNvSpPr>
          <p:nvPr/>
        </p:nvSpPr>
        <p:spPr>
          <a:xfrm>
            <a:off x="3291840" y="1463040"/>
            <a:ext cx="2560320" cy="2560320"/>
          </a:xfrm>
          <a:prstGeom prst="roundRect">
            <a:avLst>
              <a:gd name="adj" fmla="val 5357"/>
            </a:avLst>
          </a:prstGeom>
          <a:solidFill>
            <a:schemeClr val="bg2"/>
          </a:solidFill>
        </p:spPr>
        <p:txBody>
          <a:bodyPr/>
          <a:lstStyle/>
          <a:p>
            <a:endParaRPr/>
          </a:p>
        </p:txBody>
      </p:sp>
      <p:sp>
        <p:nvSpPr>
          <p:cNvPr id="9" name="Topics circle">
            <a:extLst>
              <a:ext uri="{FF2B5EF4-FFF2-40B4-BE49-F238E27FC236}">
                <a16:creationId xmlns:a16="http://schemas.microsoft.com/office/drawing/2014/main" id="{64A27183-DB20-40E1-9EC1-216F8398A58C}"/>
              </a:ext>
            </a:extLst>
          </p:cNvPr>
          <p:cNvSpPr>
            <a:spLocks noGrp="1"/>
          </p:cNvSpPr>
          <p:nvPr/>
        </p:nvSpPr>
        <p:spPr>
          <a:xfrm>
            <a:off x="3566160" y="1737360"/>
            <a:ext cx="731520" cy="731520"/>
          </a:xfrm>
          <a:prstGeom prst="ellipse">
            <a:avLst/>
          </a:prstGeom>
          <a:solidFill>
            <a:schemeClr val="accent1"/>
          </a:solidFill>
        </p:spPr>
        <p:txBody>
          <a:bodyPr/>
          <a:lstStyle/>
          <a:p>
            <a:endParaRPr/>
          </a:p>
        </p:txBody>
      </p:sp>
      <p:pic>
        <p:nvPicPr>
          <p:cNvPr id="10" name="Topics icon">
            <a:extLst>
              <a:ext uri="{FF2B5EF4-FFF2-40B4-BE49-F238E27FC236}">
                <a16:creationId xmlns:a16="http://schemas.microsoft.com/office/drawing/2014/main" id="{321A35B3-6D40-4A28-B6D1-008E60F64232}"/>
              </a:ext>
            </a:extLst>
          </p:cNvPr>
          <p:cNvPicPr>
            <a:picLocks noChangeAspect="1"/>
          </p:cNvPicPr>
          <p:nvPr/>
        </p:nvPicPr>
        <p:blipFill>
          <a:blip r:embed="rId4"/>
          <a:stretch>
            <a:fillRect/>
          </a:stretch>
        </p:blipFill>
        <p:spPr>
          <a:xfrm>
            <a:off x="3763670" y="1934870"/>
            <a:ext cx="336499" cy="336499"/>
          </a:xfrm>
          <a:prstGeom prst="rect">
            <a:avLst/>
          </a:prstGeom>
        </p:spPr>
      </p:pic>
      <p:sp>
        <p:nvSpPr>
          <p:cNvPr id="11" name="Topics heading">
            <a:extLst>
              <a:ext uri="{FF2B5EF4-FFF2-40B4-BE49-F238E27FC236}">
                <a16:creationId xmlns:a16="http://schemas.microsoft.com/office/drawing/2014/main" id="{1259A002-F678-4DBA-A556-2B8EA14B6025}"/>
              </a:ext>
            </a:extLst>
          </p:cNvPr>
          <p:cNvSpPr>
            <a:spLocks noGrp="1"/>
          </p:cNvSpPr>
          <p:nvPr/>
        </p:nvSpPr>
        <p:spPr>
          <a:xfrm>
            <a:off x="3566160" y="2697480"/>
            <a:ext cx="2103120" cy="411480"/>
          </a:xfrm>
          <a:prstGeom prst="rect">
            <a:avLst/>
          </a:prstGeom>
          <a:noFill/>
        </p:spPr>
        <p:txBody>
          <a:bodyPr wrap="square" lIns="0" tIns="0" rIns="0" bIns="0" anchor="ctr"/>
          <a:lstStyle/>
          <a:p>
            <a:pPr marL="0" indent="0">
              <a:buNone/>
            </a:pPr>
            <a:r>
              <a:rPr sz="2000" b="1">
                <a:solidFill>
                  <a:schemeClr val="tx1"/>
                </a:solidFill>
              </a:rPr>
              <a:t>Many life situations</a:t>
            </a:r>
            <a:endParaRPr sz="2000"/>
          </a:p>
        </p:txBody>
      </p:sp>
      <p:sp>
        <p:nvSpPr>
          <p:cNvPr id="12" name="Topics text">
            <a:extLst>
              <a:ext uri="{FF2B5EF4-FFF2-40B4-BE49-F238E27FC236}">
                <a16:creationId xmlns:a16="http://schemas.microsoft.com/office/drawing/2014/main" id="{2774E78A-E219-4C12-AB03-DE289CFF5E80}"/>
              </a:ext>
            </a:extLst>
          </p:cNvPr>
          <p:cNvSpPr>
            <a:spLocks noGrp="1"/>
          </p:cNvSpPr>
          <p:nvPr/>
        </p:nvSpPr>
        <p:spPr>
          <a:xfrm>
            <a:off x="3566160" y="3154680"/>
            <a:ext cx="2103120" cy="777240"/>
          </a:xfrm>
          <a:prstGeom prst="rect">
            <a:avLst/>
          </a:prstGeom>
          <a:noFill/>
        </p:spPr>
        <p:txBody>
          <a:bodyPr wrap="square" lIns="0" tIns="0" rIns="0" bIns="0" anchor="t"/>
          <a:lstStyle/>
          <a:p>
            <a:pPr marL="0" indent="0">
              <a:buNone/>
            </a:pPr>
            <a:r>
              <a:rPr sz="1400">
                <a:solidFill>
                  <a:schemeClr val="tx2"/>
                </a:solidFill>
              </a:rPr>
              <a:t>Debt, pregnancy, migration, care and more.</a:t>
            </a:r>
            <a:endParaRPr sz="1400"/>
          </a:p>
        </p:txBody>
      </p:sp>
      <p:sp>
        <p:nvSpPr>
          <p:cNvPr id="13" name="Words card">
            <a:extLst>
              <a:ext uri="{FF2B5EF4-FFF2-40B4-BE49-F238E27FC236}">
                <a16:creationId xmlns:a16="http://schemas.microsoft.com/office/drawing/2014/main" id="{9B282FCA-57EA-4AAA-8617-A017B514D465}"/>
              </a:ext>
            </a:extLst>
          </p:cNvPr>
          <p:cNvSpPr>
            <a:spLocks noGrp="1"/>
          </p:cNvSpPr>
          <p:nvPr/>
        </p:nvSpPr>
        <p:spPr>
          <a:xfrm>
            <a:off x="6126480" y="1463040"/>
            <a:ext cx="2560320" cy="2560320"/>
          </a:xfrm>
          <a:prstGeom prst="roundRect">
            <a:avLst>
              <a:gd name="adj" fmla="val 5357"/>
            </a:avLst>
          </a:prstGeom>
          <a:solidFill>
            <a:schemeClr val="bg2"/>
          </a:solidFill>
        </p:spPr>
        <p:txBody>
          <a:bodyPr/>
          <a:lstStyle/>
          <a:p>
            <a:endParaRPr/>
          </a:p>
        </p:txBody>
      </p:sp>
      <p:sp>
        <p:nvSpPr>
          <p:cNvPr id="14" name="Words circle">
            <a:extLst>
              <a:ext uri="{FF2B5EF4-FFF2-40B4-BE49-F238E27FC236}">
                <a16:creationId xmlns:a16="http://schemas.microsoft.com/office/drawing/2014/main" id="{478299B6-DE60-4DA5-80E6-ACCFCDDF9A3F}"/>
              </a:ext>
            </a:extLst>
          </p:cNvPr>
          <p:cNvSpPr>
            <a:spLocks noGrp="1"/>
          </p:cNvSpPr>
          <p:nvPr/>
        </p:nvSpPr>
        <p:spPr>
          <a:xfrm>
            <a:off x="6400800" y="1737360"/>
            <a:ext cx="731520" cy="731520"/>
          </a:xfrm>
          <a:prstGeom prst="ellipse">
            <a:avLst/>
          </a:prstGeom>
          <a:solidFill>
            <a:schemeClr val="accent1"/>
          </a:solidFill>
        </p:spPr>
        <p:txBody>
          <a:bodyPr/>
          <a:lstStyle/>
          <a:p>
            <a:endParaRPr/>
          </a:p>
        </p:txBody>
      </p:sp>
      <p:pic>
        <p:nvPicPr>
          <p:cNvPr id="15" name="Words icon">
            <a:extLst>
              <a:ext uri="{FF2B5EF4-FFF2-40B4-BE49-F238E27FC236}">
                <a16:creationId xmlns:a16="http://schemas.microsoft.com/office/drawing/2014/main" id="{983209F6-87E0-4A2B-B6EC-F85A4CBC025B}"/>
              </a:ext>
            </a:extLst>
          </p:cNvPr>
          <p:cNvPicPr>
            <a:picLocks noChangeAspect="1"/>
          </p:cNvPicPr>
          <p:nvPr/>
        </p:nvPicPr>
        <p:blipFill>
          <a:blip r:embed="rId5"/>
          <a:stretch>
            <a:fillRect/>
          </a:stretch>
        </p:blipFill>
        <p:spPr>
          <a:xfrm>
            <a:off x="6598310" y="1934870"/>
            <a:ext cx="336499" cy="336499"/>
          </a:xfrm>
          <a:prstGeom prst="rect">
            <a:avLst/>
          </a:prstGeom>
        </p:spPr>
      </p:pic>
      <p:sp>
        <p:nvSpPr>
          <p:cNvPr id="16" name="Words heading">
            <a:extLst>
              <a:ext uri="{FF2B5EF4-FFF2-40B4-BE49-F238E27FC236}">
                <a16:creationId xmlns:a16="http://schemas.microsoft.com/office/drawing/2014/main" id="{1B4D4C2E-2D09-4D1B-A4C4-4436BE407B95}"/>
              </a:ext>
            </a:extLst>
          </p:cNvPr>
          <p:cNvSpPr>
            <a:spLocks noGrp="1"/>
          </p:cNvSpPr>
          <p:nvPr/>
        </p:nvSpPr>
        <p:spPr>
          <a:xfrm>
            <a:off x="6400800" y="2697480"/>
            <a:ext cx="2103120" cy="411480"/>
          </a:xfrm>
          <a:prstGeom prst="rect">
            <a:avLst/>
          </a:prstGeom>
          <a:noFill/>
        </p:spPr>
        <p:txBody>
          <a:bodyPr wrap="square" lIns="0" tIns="0" rIns="0" bIns="0" anchor="ctr"/>
          <a:lstStyle/>
          <a:p>
            <a:pPr marL="0" indent="0">
              <a:buNone/>
            </a:pPr>
            <a:r>
              <a:rPr lang="de-DE" sz="2000" b="1" dirty="0" err="1"/>
              <a:t>No</a:t>
            </a:r>
            <a:r>
              <a:rPr lang="de-DE" sz="2000" b="1" dirty="0"/>
              <a:t> </a:t>
            </a:r>
            <a:r>
              <a:rPr lang="de-DE" sz="2000" b="1" dirty="0" err="1"/>
              <a:t>right</a:t>
            </a:r>
            <a:r>
              <a:rPr lang="de-DE" sz="2000" b="1" dirty="0"/>
              <a:t> </a:t>
            </a:r>
            <a:r>
              <a:rPr lang="de-DE" sz="2000" b="1" dirty="0" err="1"/>
              <a:t>direction</a:t>
            </a:r>
            <a:r>
              <a:rPr lang="de-DE" sz="2000" b="1" dirty="0"/>
              <a:t>?</a:t>
            </a:r>
            <a:endParaRPr sz="2000" dirty="0"/>
          </a:p>
        </p:txBody>
      </p:sp>
      <p:sp>
        <p:nvSpPr>
          <p:cNvPr id="17" name="Words text">
            <a:extLst>
              <a:ext uri="{FF2B5EF4-FFF2-40B4-BE49-F238E27FC236}">
                <a16:creationId xmlns:a16="http://schemas.microsoft.com/office/drawing/2014/main" id="{AB28F6BD-5B17-40DE-9C7A-34AF0B3CAC53}"/>
              </a:ext>
            </a:extLst>
          </p:cNvPr>
          <p:cNvSpPr>
            <a:spLocks noGrp="1"/>
          </p:cNvSpPr>
          <p:nvPr/>
        </p:nvSpPr>
        <p:spPr>
          <a:xfrm>
            <a:off x="6400800" y="3154680"/>
            <a:ext cx="2103120" cy="777240"/>
          </a:xfrm>
          <a:prstGeom prst="rect">
            <a:avLst/>
          </a:prstGeom>
          <a:noFill/>
        </p:spPr>
        <p:txBody>
          <a:bodyPr wrap="square" lIns="0" tIns="0" rIns="0" bIns="0" anchor="t"/>
          <a:lstStyle/>
          <a:p>
            <a:pPr marL="0" indent="0">
              <a:buNone/>
            </a:pPr>
            <a:r>
              <a:rPr sz="1400">
                <a:solidFill>
                  <a:schemeClr val="tx2"/>
                </a:solidFill>
              </a:rPr>
              <a:t>People describe life—not service categories.</a:t>
            </a:r>
            <a:endParaRPr sz="1400"/>
          </a:p>
        </p:txBody>
      </p:sp>
    </p:spTree>
    <p:extLst>
      <p:ext uri="{BB962C8B-B14F-4D97-AF65-F5344CB8AC3E}">
        <p14:creationId xmlns:p14="http://schemas.microsoft.com/office/powerpoint/2010/main" val="37927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D88FD3C-8896-461B-87CC-D8DBF7891D8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Say it in your own words. Find the right office.</a:t>
            </a:r>
            <a:endParaRPr sz="3200"/>
          </a:p>
        </p:txBody>
      </p:sp>
      <p:sp>
        <p:nvSpPr>
          <p:cNvPr id="3" name="Speak circle">
            <a:extLst>
              <a:ext uri="{FF2B5EF4-FFF2-40B4-BE49-F238E27FC236}">
                <a16:creationId xmlns:a16="http://schemas.microsoft.com/office/drawing/2014/main" id="{5387D241-17B1-4D30-A73E-0A5590EF953A}"/>
              </a:ext>
            </a:extLst>
          </p:cNvPr>
          <p:cNvSpPr>
            <a:spLocks noGrp="1"/>
          </p:cNvSpPr>
          <p:nvPr/>
        </p:nvSpPr>
        <p:spPr>
          <a:xfrm>
            <a:off x="960120" y="1645920"/>
            <a:ext cx="914400" cy="914400"/>
          </a:xfrm>
          <a:prstGeom prst="ellipse">
            <a:avLst/>
          </a:prstGeom>
          <a:solidFill>
            <a:schemeClr val="accent1"/>
          </a:solidFill>
        </p:spPr>
        <p:txBody>
          <a:bodyPr/>
          <a:lstStyle/>
          <a:p>
            <a:endParaRPr/>
          </a:p>
        </p:txBody>
      </p:sp>
      <p:pic>
        <p:nvPicPr>
          <p:cNvPr id="4" name="Speak icon">
            <a:extLst>
              <a:ext uri="{FF2B5EF4-FFF2-40B4-BE49-F238E27FC236}">
                <a16:creationId xmlns:a16="http://schemas.microsoft.com/office/drawing/2014/main" id="{6BF6F81D-7DCD-4316-BD44-5BFC5B04CD31}"/>
              </a:ext>
            </a:extLst>
          </p:cNvPr>
          <p:cNvPicPr>
            <a:picLocks noChangeAspect="1"/>
          </p:cNvPicPr>
          <p:nvPr/>
        </p:nvPicPr>
        <p:blipFill>
          <a:blip r:embed="rId3"/>
          <a:stretch>
            <a:fillRect/>
          </a:stretch>
        </p:blipFill>
        <p:spPr>
          <a:xfrm>
            <a:off x="1207008" y="1892808"/>
            <a:ext cx="420624" cy="420624"/>
          </a:xfrm>
          <a:prstGeom prst="rect">
            <a:avLst/>
          </a:prstGeom>
        </p:spPr>
      </p:pic>
      <p:sp>
        <p:nvSpPr>
          <p:cNvPr id="5" name="Speak heading">
            <a:extLst>
              <a:ext uri="{FF2B5EF4-FFF2-40B4-BE49-F238E27FC236}">
                <a16:creationId xmlns:a16="http://schemas.microsoft.com/office/drawing/2014/main" id="{D2472AEF-C79F-413F-8E27-2F20409ADE19}"/>
              </a:ext>
            </a:extLst>
          </p:cNvPr>
          <p:cNvSpPr>
            <a:spLocks noGrp="1"/>
          </p:cNvSpPr>
          <p:nvPr/>
        </p:nvSpPr>
        <p:spPr>
          <a:xfrm>
            <a:off x="457200" y="2743200"/>
            <a:ext cx="1920240" cy="411480"/>
          </a:xfrm>
          <a:prstGeom prst="rect">
            <a:avLst/>
          </a:prstGeom>
          <a:noFill/>
        </p:spPr>
        <p:txBody>
          <a:bodyPr wrap="square" lIns="0" tIns="0" rIns="0" bIns="0" anchor="ctr"/>
          <a:lstStyle/>
          <a:p>
            <a:pPr marL="0" indent="0" algn="ctr">
              <a:buNone/>
            </a:pPr>
            <a:r>
              <a:rPr sz="2000" b="1">
                <a:solidFill>
                  <a:schemeClr val="tx1"/>
                </a:solidFill>
              </a:rPr>
              <a:t>1. Speak</a:t>
            </a:r>
            <a:endParaRPr sz="2000"/>
          </a:p>
        </p:txBody>
      </p:sp>
      <p:sp>
        <p:nvSpPr>
          <p:cNvPr id="6" name="Speak text">
            <a:extLst>
              <a:ext uri="{FF2B5EF4-FFF2-40B4-BE49-F238E27FC236}">
                <a16:creationId xmlns:a16="http://schemas.microsoft.com/office/drawing/2014/main" id="{5D5FA285-128D-4185-A4CE-459C780FCA9C}"/>
              </a:ext>
            </a:extLst>
          </p:cNvPr>
          <p:cNvSpPr>
            <a:spLocks noGrp="1"/>
          </p:cNvSpPr>
          <p:nvPr/>
        </p:nvSpPr>
        <p:spPr>
          <a:xfrm>
            <a:off x="502920" y="3200400"/>
            <a:ext cx="1828800" cy="822960"/>
          </a:xfrm>
          <a:prstGeom prst="rect">
            <a:avLst/>
          </a:prstGeom>
          <a:noFill/>
        </p:spPr>
        <p:txBody>
          <a:bodyPr wrap="square" lIns="0" tIns="0" rIns="0" bIns="0" anchor="t"/>
          <a:lstStyle/>
          <a:p>
            <a:pPr marL="0" indent="0" algn="ctr">
              <a:buNone/>
            </a:pPr>
            <a:r>
              <a:rPr sz="1400">
                <a:solidFill>
                  <a:schemeClr val="tx2"/>
                </a:solidFill>
              </a:rPr>
              <a:t>Describe what is happening</a:t>
            </a:r>
            <a:endParaRPr sz="1400"/>
          </a:p>
        </p:txBody>
      </p:sp>
      <p:sp>
        <p:nvSpPr>
          <p:cNvPr id="7" name="Arrow 1">
            <a:extLst>
              <a:ext uri="{FF2B5EF4-FFF2-40B4-BE49-F238E27FC236}">
                <a16:creationId xmlns:a16="http://schemas.microsoft.com/office/drawing/2014/main" id="{CF378990-BCC0-492D-B9EA-F0B372543064}"/>
              </a:ext>
            </a:extLst>
          </p:cNvPr>
          <p:cNvSpPr>
            <a:spLocks noGrp="1"/>
          </p:cNvSpPr>
          <p:nvPr/>
        </p:nvSpPr>
        <p:spPr>
          <a:xfrm>
            <a:off x="2011680" y="2103120"/>
            <a:ext cx="914400" cy="0"/>
          </a:xfrm>
          <a:prstGeom prst="line">
            <a:avLst/>
          </a:prstGeom>
          <a:noFill/>
          <a:ln w="25400">
            <a:solidFill>
              <a:schemeClr val="accent4"/>
            </a:solidFill>
            <a:prstDash val="solid"/>
            <a:tailEnd type="triangle"/>
          </a:ln>
        </p:spPr>
        <p:txBody>
          <a:bodyPr/>
          <a:lstStyle/>
          <a:p>
            <a:endParaRPr/>
          </a:p>
        </p:txBody>
      </p:sp>
      <p:sp>
        <p:nvSpPr>
          <p:cNvPr id="8" name="Understand circle">
            <a:extLst>
              <a:ext uri="{FF2B5EF4-FFF2-40B4-BE49-F238E27FC236}">
                <a16:creationId xmlns:a16="http://schemas.microsoft.com/office/drawing/2014/main" id="{01AF583B-B8C7-412A-BD06-FED08FEA4F8E}"/>
              </a:ext>
            </a:extLst>
          </p:cNvPr>
          <p:cNvSpPr>
            <a:spLocks noGrp="1"/>
          </p:cNvSpPr>
          <p:nvPr/>
        </p:nvSpPr>
        <p:spPr>
          <a:xfrm>
            <a:off x="3063240" y="1645920"/>
            <a:ext cx="914400" cy="914400"/>
          </a:xfrm>
          <a:prstGeom prst="ellipse">
            <a:avLst/>
          </a:prstGeom>
          <a:solidFill>
            <a:schemeClr val="accent1"/>
          </a:solidFill>
        </p:spPr>
        <p:txBody>
          <a:bodyPr/>
          <a:lstStyle/>
          <a:p>
            <a:endParaRPr/>
          </a:p>
        </p:txBody>
      </p:sp>
      <p:pic>
        <p:nvPicPr>
          <p:cNvPr id="9" name="Understand icon">
            <a:extLst>
              <a:ext uri="{FF2B5EF4-FFF2-40B4-BE49-F238E27FC236}">
                <a16:creationId xmlns:a16="http://schemas.microsoft.com/office/drawing/2014/main" id="{9D066246-ABFD-4F5B-B53F-03E97BF7DFDD}"/>
              </a:ext>
            </a:extLst>
          </p:cNvPr>
          <p:cNvPicPr>
            <a:picLocks noChangeAspect="1"/>
          </p:cNvPicPr>
          <p:nvPr/>
        </p:nvPicPr>
        <p:blipFill>
          <a:blip r:embed="rId4"/>
          <a:stretch>
            <a:fillRect/>
          </a:stretch>
        </p:blipFill>
        <p:spPr>
          <a:xfrm>
            <a:off x="3310128" y="1892808"/>
            <a:ext cx="420624" cy="420624"/>
          </a:xfrm>
          <a:prstGeom prst="rect">
            <a:avLst/>
          </a:prstGeom>
        </p:spPr>
      </p:pic>
      <p:sp>
        <p:nvSpPr>
          <p:cNvPr id="10" name="Understand heading">
            <a:extLst>
              <a:ext uri="{FF2B5EF4-FFF2-40B4-BE49-F238E27FC236}">
                <a16:creationId xmlns:a16="http://schemas.microsoft.com/office/drawing/2014/main" id="{39637BC7-CC68-47A8-946E-F4680430F6E2}"/>
              </a:ext>
            </a:extLst>
          </p:cNvPr>
          <p:cNvSpPr>
            <a:spLocks noGrp="1"/>
          </p:cNvSpPr>
          <p:nvPr/>
        </p:nvSpPr>
        <p:spPr>
          <a:xfrm>
            <a:off x="2560320" y="2743200"/>
            <a:ext cx="1920240" cy="411480"/>
          </a:xfrm>
          <a:prstGeom prst="rect">
            <a:avLst/>
          </a:prstGeom>
          <a:noFill/>
        </p:spPr>
        <p:txBody>
          <a:bodyPr wrap="square" lIns="0" tIns="0" rIns="0" bIns="0" anchor="ctr"/>
          <a:lstStyle/>
          <a:p>
            <a:pPr marL="0" indent="0" algn="ctr">
              <a:buNone/>
            </a:pPr>
            <a:r>
              <a:rPr sz="2000" b="1">
                <a:solidFill>
                  <a:schemeClr val="tx1"/>
                </a:solidFill>
              </a:rPr>
              <a:t>2. Understand</a:t>
            </a:r>
            <a:endParaRPr sz="2000"/>
          </a:p>
        </p:txBody>
      </p:sp>
      <p:sp>
        <p:nvSpPr>
          <p:cNvPr id="11" name="Understand text">
            <a:extLst>
              <a:ext uri="{FF2B5EF4-FFF2-40B4-BE49-F238E27FC236}">
                <a16:creationId xmlns:a16="http://schemas.microsoft.com/office/drawing/2014/main" id="{65F06598-7085-45FD-AE34-8082FA4E57E9}"/>
              </a:ext>
            </a:extLst>
          </p:cNvPr>
          <p:cNvSpPr>
            <a:spLocks noGrp="1"/>
          </p:cNvSpPr>
          <p:nvPr/>
        </p:nvSpPr>
        <p:spPr>
          <a:xfrm>
            <a:off x="2606040" y="3200400"/>
            <a:ext cx="1828800" cy="822960"/>
          </a:xfrm>
          <a:prstGeom prst="rect">
            <a:avLst/>
          </a:prstGeom>
          <a:noFill/>
        </p:spPr>
        <p:txBody>
          <a:bodyPr wrap="square" lIns="0" tIns="0" rIns="0" bIns="0" anchor="t"/>
          <a:lstStyle/>
          <a:p>
            <a:pPr marL="0" indent="0" algn="ctr">
              <a:buNone/>
            </a:pPr>
            <a:r>
              <a:rPr sz="1400">
                <a:solidFill>
                  <a:schemeClr val="tx2"/>
                </a:solidFill>
              </a:rPr>
              <a:t>Everyday language becomes a topic</a:t>
            </a:r>
            <a:endParaRPr sz="1400"/>
          </a:p>
        </p:txBody>
      </p:sp>
      <p:sp>
        <p:nvSpPr>
          <p:cNvPr id="12" name="Arrow 2">
            <a:extLst>
              <a:ext uri="{FF2B5EF4-FFF2-40B4-BE49-F238E27FC236}">
                <a16:creationId xmlns:a16="http://schemas.microsoft.com/office/drawing/2014/main" id="{222D8A0F-3E25-4BB7-9000-9F924EECDE1E}"/>
              </a:ext>
            </a:extLst>
          </p:cNvPr>
          <p:cNvSpPr>
            <a:spLocks noGrp="1"/>
          </p:cNvSpPr>
          <p:nvPr/>
        </p:nvSpPr>
        <p:spPr>
          <a:xfrm>
            <a:off x="4114800" y="2103120"/>
            <a:ext cx="914400" cy="0"/>
          </a:xfrm>
          <a:prstGeom prst="line">
            <a:avLst/>
          </a:prstGeom>
          <a:noFill/>
          <a:ln w="25400">
            <a:solidFill>
              <a:schemeClr val="accent4"/>
            </a:solidFill>
            <a:prstDash val="solid"/>
            <a:tailEnd type="triangle"/>
          </a:ln>
        </p:spPr>
        <p:txBody>
          <a:bodyPr/>
          <a:lstStyle/>
          <a:p>
            <a:endParaRPr/>
          </a:p>
        </p:txBody>
      </p:sp>
      <p:sp>
        <p:nvSpPr>
          <p:cNvPr id="13" name="Match circle">
            <a:extLst>
              <a:ext uri="{FF2B5EF4-FFF2-40B4-BE49-F238E27FC236}">
                <a16:creationId xmlns:a16="http://schemas.microsoft.com/office/drawing/2014/main" id="{65DD9BD6-FC32-4D54-A1C0-9CC92B26CF12}"/>
              </a:ext>
            </a:extLst>
          </p:cNvPr>
          <p:cNvSpPr>
            <a:spLocks noGrp="1"/>
          </p:cNvSpPr>
          <p:nvPr/>
        </p:nvSpPr>
        <p:spPr>
          <a:xfrm>
            <a:off x="5166360" y="1645920"/>
            <a:ext cx="914400" cy="914400"/>
          </a:xfrm>
          <a:prstGeom prst="ellipse">
            <a:avLst/>
          </a:prstGeom>
          <a:solidFill>
            <a:schemeClr val="accent1"/>
          </a:solidFill>
        </p:spPr>
        <p:txBody>
          <a:bodyPr/>
          <a:lstStyle/>
          <a:p>
            <a:endParaRPr/>
          </a:p>
        </p:txBody>
      </p:sp>
      <p:pic>
        <p:nvPicPr>
          <p:cNvPr id="14" name="Match icon">
            <a:extLst>
              <a:ext uri="{FF2B5EF4-FFF2-40B4-BE49-F238E27FC236}">
                <a16:creationId xmlns:a16="http://schemas.microsoft.com/office/drawing/2014/main" id="{84FD0CC2-B7AA-4291-B98E-2D45465427A5}"/>
              </a:ext>
            </a:extLst>
          </p:cNvPr>
          <p:cNvPicPr>
            <a:picLocks noChangeAspect="1"/>
          </p:cNvPicPr>
          <p:nvPr/>
        </p:nvPicPr>
        <p:blipFill>
          <a:blip r:embed="rId5"/>
          <a:stretch>
            <a:fillRect/>
          </a:stretch>
        </p:blipFill>
        <p:spPr>
          <a:xfrm>
            <a:off x="5413248" y="1892808"/>
            <a:ext cx="420624" cy="420624"/>
          </a:xfrm>
          <a:prstGeom prst="rect">
            <a:avLst/>
          </a:prstGeom>
        </p:spPr>
      </p:pic>
      <p:sp>
        <p:nvSpPr>
          <p:cNvPr id="15" name="Match heading">
            <a:extLst>
              <a:ext uri="{FF2B5EF4-FFF2-40B4-BE49-F238E27FC236}">
                <a16:creationId xmlns:a16="http://schemas.microsoft.com/office/drawing/2014/main" id="{0F208621-90A6-4616-A18B-02024F9740F2}"/>
              </a:ext>
            </a:extLst>
          </p:cNvPr>
          <p:cNvSpPr>
            <a:spLocks noGrp="1"/>
          </p:cNvSpPr>
          <p:nvPr/>
        </p:nvSpPr>
        <p:spPr>
          <a:xfrm>
            <a:off x="4663440" y="2743200"/>
            <a:ext cx="1920240" cy="411480"/>
          </a:xfrm>
          <a:prstGeom prst="rect">
            <a:avLst/>
          </a:prstGeom>
          <a:noFill/>
        </p:spPr>
        <p:txBody>
          <a:bodyPr wrap="square" lIns="0" tIns="0" rIns="0" bIns="0" anchor="ctr"/>
          <a:lstStyle/>
          <a:p>
            <a:pPr marL="0" indent="0" algn="ctr">
              <a:buNone/>
            </a:pPr>
            <a:r>
              <a:rPr sz="2000" b="1">
                <a:solidFill>
                  <a:schemeClr val="tx1"/>
                </a:solidFill>
              </a:rPr>
              <a:t>3. Match</a:t>
            </a:r>
            <a:endParaRPr sz="2000"/>
          </a:p>
        </p:txBody>
      </p:sp>
      <p:sp>
        <p:nvSpPr>
          <p:cNvPr id="16" name="Match text">
            <a:extLst>
              <a:ext uri="{FF2B5EF4-FFF2-40B4-BE49-F238E27FC236}">
                <a16:creationId xmlns:a16="http://schemas.microsoft.com/office/drawing/2014/main" id="{E0897883-952B-4340-BF6D-84A8E93FC6E2}"/>
              </a:ext>
            </a:extLst>
          </p:cNvPr>
          <p:cNvSpPr>
            <a:spLocks noGrp="1"/>
          </p:cNvSpPr>
          <p:nvPr/>
        </p:nvSpPr>
        <p:spPr>
          <a:xfrm>
            <a:off x="4709160" y="3200400"/>
            <a:ext cx="1828800" cy="822960"/>
          </a:xfrm>
          <a:prstGeom prst="rect">
            <a:avLst/>
          </a:prstGeom>
          <a:noFill/>
        </p:spPr>
        <p:txBody>
          <a:bodyPr wrap="square" lIns="0" tIns="0" rIns="0" bIns="0" anchor="t"/>
          <a:lstStyle/>
          <a:p>
            <a:pPr marL="0" indent="0" algn="ctr">
              <a:buNone/>
            </a:pPr>
            <a:r>
              <a:rPr sz="1400">
                <a:solidFill>
                  <a:schemeClr val="tx2"/>
                </a:solidFill>
              </a:rPr>
              <a:t>Topic + location guide the search</a:t>
            </a:r>
            <a:endParaRPr sz="1400"/>
          </a:p>
        </p:txBody>
      </p:sp>
      <p:sp>
        <p:nvSpPr>
          <p:cNvPr id="17" name="Arrow 3">
            <a:extLst>
              <a:ext uri="{FF2B5EF4-FFF2-40B4-BE49-F238E27FC236}">
                <a16:creationId xmlns:a16="http://schemas.microsoft.com/office/drawing/2014/main" id="{22F4F5F4-ECA8-4109-90C4-10CA21E1FE96}"/>
              </a:ext>
            </a:extLst>
          </p:cNvPr>
          <p:cNvSpPr>
            <a:spLocks noGrp="1"/>
          </p:cNvSpPr>
          <p:nvPr/>
        </p:nvSpPr>
        <p:spPr>
          <a:xfrm>
            <a:off x="6217920" y="2103120"/>
            <a:ext cx="914400" cy="0"/>
          </a:xfrm>
          <a:prstGeom prst="line">
            <a:avLst/>
          </a:prstGeom>
          <a:noFill/>
          <a:ln w="25400">
            <a:solidFill>
              <a:schemeClr val="accent4"/>
            </a:solidFill>
            <a:prstDash val="solid"/>
            <a:tailEnd type="triangle"/>
          </a:ln>
        </p:spPr>
        <p:txBody>
          <a:bodyPr/>
          <a:lstStyle/>
          <a:p>
            <a:endParaRPr/>
          </a:p>
        </p:txBody>
      </p:sp>
      <p:sp>
        <p:nvSpPr>
          <p:cNvPr id="18" name="Connect circle">
            <a:extLst>
              <a:ext uri="{FF2B5EF4-FFF2-40B4-BE49-F238E27FC236}">
                <a16:creationId xmlns:a16="http://schemas.microsoft.com/office/drawing/2014/main" id="{529B876E-6691-4803-92FB-0BA8F8FFCB7C}"/>
              </a:ext>
            </a:extLst>
          </p:cNvPr>
          <p:cNvSpPr>
            <a:spLocks noGrp="1"/>
          </p:cNvSpPr>
          <p:nvPr/>
        </p:nvSpPr>
        <p:spPr>
          <a:xfrm>
            <a:off x="7269480" y="1645920"/>
            <a:ext cx="914400" cy="914400"/>
          </a:xfrm>
          <a:prstGeom prst="ellipse">
            <a:avLst/>
          </a:prstGeom>
          <a:solidFill>
            <a:schemeClr val="accent1"/>
          </a:solidFill>
        </p:spPr>
        <p:txBody>
          <a:bodyPr/>
          <a:lstStyle/>
          <a:p>
            <a:endParaRPr/>
          </a:p>
        </p:txBody>
      </p:sp>
      <p:pic>
        <p:nvPicPr>
          <p:cNvPr id="19" name="Connect icon">
            <a:extLst>
              <a:ext uri="{FF2B5EF4-FFF2-40B4-BE49-F238E27FC236}">
                <a16:creationId xmlns:a16="http://schemas.microsoft.com/office/drawing/2014/main" id="{FD9E653D-B735-4909-9A40-717A09C8AEBB}"/>
              </a:ext>
            </a:extLst>
          </p:cNvPr>
          <p:cNvPicPr>
            <a:picLocks noChangeAspect="1"/>
          </p:cNvPicPr>
          <p:nvPr/>
        </p:nvPicPr>
        <p:blipFill>
          <a:blip r:embed="rId6"/>
          <a:stretch>
            <a:fillRect/>
          </a:stretch>
        </p:blipFill>
        <p:spPr>
          <a:xfrm>
            <a:off x="7516368" y="1892808"/>
            <a:ext cx="420624" cy="420624"/>
          </a:xfrm>
          <a:prstGeom prst="rect">
            <a:avLst/>
          </a:prstGeom>
        </p:spPr>
      </p:pic>
      <p:sp>
        <p:nvSpPr>
          <p:cNvPr id="20" name="Connect heading">
            <a:extLst>
              <a:ext uri="{FF2B5EF4-FFF2-40B4-BE49-F238E27FC236}">
                <a16:creationId xmlns:a16="http://schemas.microsoft.com/office/drawing/2014/main" id="{54B5DCEE-2D64-4947-9845-416289FB6E93}"/>
              </a:ext>
            </a:extLst>
          </p:cNvPr>
          <p:cNvSpPr>
            <a:spLocks noGrp="1"/>
          </p:cNvSpPr>
          <p:nvPr/>
        </p:nvSpPr>
        <p:spPr>
          <a:xfrm>
            <a:off x="6766560" y="2743200"/>
            <a:ext cx="1920240" cy="411480"/>
          </a:xfrm>
          <a:prstGeom prst="rect">
            <a:avLst/>
          </a:prstGeom>
          <a:noFill/>
        </p:spPr>
        <p:txBody>
          <a:bodyPr wrap="square" lIns="0" tIns="0" rIns="0" bIns="0" anchor="ctr"/>
          <a:lstStyle/>
          <a:p>
            <a:pPr marL="0" indent="0" algn="ctr">
              <a:buNone/>
            </a:pPr>
            <a:r>
              <a:rPr sz="2000" b="1">
                <a:solidFill>
                  <a:schemeClr val="tx1"/>
                </a:solidFill>
              </a:rPr>
              <a:t>4. Connect</a:t>
            </a:r>
            <a:endParaRPr sz="2000"/>
          </a:p>
        </p:txBody>
      </p:sp>
      <p:sp>
        <p:nvSpPr>
          <p:cNvPr id="21" name="Connect text">
            <a:extLst>
              <a:ext uri="{FF2B5EF4-FFF2-40B4-BE49-F238E27FC236}">
                <a16:creationId xmlns:a16="http://schemas.microsoft.com/office/drawing/2014/main" id="{AE2C88B9-42B6-4289-AF23-CF1E5E56C6F1}"/>
              </a:ext>
            </a:extLst>
          </p:cNvPr>
          <p:cNvSpPr>
            <a:spLocks noGrp="1"/>
          </p:cNvSpPr>
          <p:nvPr/>
        </p:nvSpPr>
        <p:spPr>
          <a:xfrm>
            <a:off x="6812280" y="3200400"/>
            <a:ext cx="1828800" cy="822960"/>
          </a:xfrm>
          <a:prstGeom prst="rect">
            <a:avLst/>
          </a:prstGeom>
          <a:noFill/>
        </p:spPr>
        <p:txBody>
          <a:bodyPr wrap="square" lIns="0" tIns="0" rIns="0" bIns="0" anchor="t"/>
          <a:lstStyle/>
          <a:p>
            <a:pPr marL="0" indent="0" algn="ctr">
              <a:buNone/>
            </a:pPr>
            <a:r>
              <a:rPr sz="1400">
                <a:solidFill>
                  <a:schemeClr val="tx2"/>
                </a:solidFill>
              </a:rPr>
              <a:t>Get the relevant contact details</a:t>
            </a:r>
            <a:endParaRPr sz="1400"/>
          </a:p>
        </p:txBody>
      </p:sp>
    </p:spTree>
    <p:extLst>
      <p:ext uri="{BB962C8B-B14F-4D97-AF65-F5344CB8AC3E}">
        <p14:creationId xmlns:p14="http://schemas.microsoft.com/office/powerpoint/2010/main" val="1579107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05102B9-E7ED-447C-B2DF-017D04DAC20B}"/>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Behind the voice: RAG in 20 seconds</a:t>
            </a:r>
            <a:endParaRPr sz="3200"/>
          </a:p>
        </p:txBody>
      </p:sp>
      <p:sp>
        <p:nvSpPr>
          <p:cNvPr id="3" name="STT box">
            <a:extLst>
              <a:ext uri="{FF2B5EF4-FFF2-40B4-BE49-F238E27FC236}">
                <a16:creationId xmlns:a16="http://schemas.microsoft.com/office/drawing/2014/main" id="{CEBE7462-8743-4866-8FC5-B9CD070B415D}"/>
              </a:ext>
            </a:extLst>
          </p:cNvPr>
          <p:cNvSpPr>
            <a:spLocks noGrp="1"/>
          </p:cNvSpPr>
          <p:nvPr/>
        </p:nvSpPr>
        <p:spPr>
          <a:xfrm>
            <a:off x="502920" y="1325880"/>
            <a:ext cx="1481328" cy="1645920"/>
          </a:xfrm>
          <a:prstGeom prst="roundRect">
            <a:avLst>
              <a:gd name="adj" fmla="val 7407"/>
            </a:avLst>
          </a:prstGeom>
          <a:solidFill>
            <a:schemeClr val="bg2"/>
          </a:solidFill>
        </p:spPr>
        <p:txBody>
          <a:bodyPr/>
          <a:lstStyle/>
          <a:p>
            <a:endParaRPr/>
          </a:p>
        </p:txBody>
      </p:sp>
      <p:sp>
        <p:nvSpPr>
          <p:cNvPr id="4" name="STT circle">
            <a:extLst>
              <a:ext uri="{FF2B5EF4-FFF2-40B4-BE49-F238E27FC236}">
                <a16:creationId xmlns:a16="http://schemas.microsoft.com/office/drawing/2014/main" id="{0F9216D7-6C68-41A1-9432-0899DCE1E1CD}"/>
              </a:ext>
            </a:extLst>
          </p:cNvPr>
          <p:cNvSpPr>
            <a:spLocks noGrp="1"/>
          </p:cNvSpPr>
          <p:nvPr/>
        </p:nvSpPr>
        <p:spPr>
          <a:xfrm>
            <a:off x="1014984" y="1417320"/>
            <a:ext cx="457200" cy="457200"/>
          </a:xfrm>
          <a:prstGeom prst="ellipse">
            <a:avLst/>
          </a:prstGeom>
          <a:solidFill>
            <a:schemeClr val="accent1"/>
          </a:solidFill>
        </p:spPr>
        <p:txBody>
          <a:bodyPr/>
          <a:lstStyle/>
          <a:p>
            <a:endParaRPr/>
          </a:p>
        </p:txBody>
      </p:sp>
      <p:pic>
        <p:nvPicPr>
          <p:cNvPr id="5" name="STT icon">
            <a:extLst>
              <a:ext uri="{FF2B5EF4-FFF2-40B4-BE49-F238E27FC236}">
                <a16:creationId xmlns:a16="http://schemas.microsoft.com/office/drawing/2014/main" id="{203E26EB-C687-4FA0-80C8-C31B2B4293A3}"/>
              </a:ext>
            </a:extLst>
          </p:cNvPr>
          <p:cNvPicPr>
            <a:picLocks noChangeAspect="1"/>
          </p:cNvPicPr>
          <p:nvPr/>
        </p:nvPicPr>
        <p:blipFill>
          <a:blip r:embed="rId3"/>
          <a:stretch>
            <a:fillRect/>
          </a:stretch>
        </p:blipFill>
        <p:spPr>
          <a:xfrm>
            <a:off x="1138428" y="1540764"/>
            <a:ext cx="210312" cy="210312"/>
          </a:xfrm>
          <a:prstGeom prst="rect">
            <a:avLst/>
          </a:prstGeom>
        </p:spPr>
      </p:pic>
      <p:sp>
        <p:nvSpPr>
          <p:cNvPr id="6" name="STT heading">
            <a:extLst>
              <a:ext uri="{FF2B5EF4-FFF2-40B4-BE49-F238E27FC236}">
                <a16:creationId xmlns:a16="http://schemas.microsoft.com/office/drawing/2014/main" id="{32827E9D-C431-412F-BE13-A7480C93540F}"/>
              </a:ext>
            </a:extLst>
          </p:cNvPr>
          <p:cNvSpPr>
            <a:spLocks noGrp="1"/>
          </p:cNvSpPr>
          <p:nvPr/>
        </p:nvSpPr>
        <p:spPr>
          <a:xfrm>
            <a:off x="576072" y="1920240"/>
            <a:ext cx="1335024" cy="320040"/>
          </a:xfrm>
          <a:prstGeom prst="rect">
            <a:avLst/>
          </a:prstGeom>
          <a:noFill/>
        </p:spPr>
        <p:txBody>
          <a:bodyPr wrap="square" lIns="0" tIns="0" rIns="0" bIns="0" anchor="ctr"/>
          <a:lstStyle/>
          <a:p>
            <a:pPr marL="0" indent="0" algn="ctr">
              <a:buNone/>
            </a:pPr>
            <a:r>
              <a:rPr sz="1400" b="1">
                <a:solidFill>
                  <a:schemeClr val="tx1"/>
                </a:solidFill>
              </a:rPr>
              <a:t>Speech → text</a:t>
            </a:r>
            <a:endParaRPr sz="1400"/>
          </a:p>
        </p:txBody>
      </p:sp>
      <p:sp>
        <p:nvSpPr>
          <p:cNvPr id="7" name="STT text">
            <a:extLst>
              <a:ext uri="{FF2B5EF4-FFF2-40B4-BE49-F238E27FC236}">
                <a16:creationId xmlns:a16="http://schemas.microsoft.com/office/drawing/2014/main" id="{D7412CDD-4DAC-4C47-A469-413257992E82}"/>
              </a:ext>
            </a:extLst>
          </p:cNvPr>
          <p:cNvSpPr>
            <a:spLocks noGrp="1"/>
          </p:cNvSpPr>
          <p:nvPr/>
        </p:nvSpPr>
        <p:spPr>
          <a:xfrm>
            <a:off x="594360" y="2267712"/>
            <a:ext cx="1298448" cy="640080"/>
          </a:xfrm>
          <a:prstGeom prst="rect">
            <a:avLst/>
          </a:prstGeom>
          <a:noFill/>
        </p:spPr>
        <p:txBody>
          <a:bodyPr wrap="square" lIns="0" tIns="0" rIns="0" bIns="0" anchor="t"/>
          <a:lstStyle/>
          <a:p>
            <a:pPr marL="0" indent="0" algn="ctr">
              <a:buNone/>
            </a:pPr>
            <a:r>
              <a:rPr sz="1200">
                <a:solidFill>
                  <a:schemeClr val="tx2"/>
                </a:solidFill>
              </a:rPr>
              <a:t>The spoken request is transcribed</a:t>
            </a:r>
            <a:endParaRPr sz="1200"/>
          </a:p>
        </p:txBody>
      </p:sp>
      <p:sp>
        <p:nvSpPr>
          <p:cNvPr id="8" name="Pipeline arrow 1">
            <a:extLst>
              <a:ext uri="{FF2B5EF4-FFF2-40B4-BE49-F238E27FC236}">
                <a16:creationId xmlns:a16="http://schemas.microsoft.com/office/drawing/2014/main" id="{26A31A9E-20CF-4C4C-A9A2-20BD241DED84}"/>
              </a:ext>
            </a:extLst>
          </p:cNvPr>
          <p:cNvSpPr>
            <a:spLocks noGrp="1"/>
          </p:cNvSpPr>
          <p:nvPr/>
        </p:nvSpPr>
        <p:spPr>
          <a:xfrm>
            <a:off x="2002536" y="2148840"/>
            <a:ext cx="146304" cy="0"/>
          </a:xfrm>
          <a:prstGeom prst="line">
            <a:avLst/>
          </a:prstGeom>
          <a:noFill/>
          <a:ln w="19050">
            <a:solidFill>
              <a:schemeClr val="accent4"/>
            </a:solidFill>
            <a:prstDash val="solid"/>
            <a:tailEnd type="triangle"/>
          </a:ln>
        </p:spPr>
        <p:txBody>
          <a:bodyPr/>
          <a:lstStyle/>
          <a:p>
            <a:endParaRPr/>
          </a:p>
        </p:txBody>
      </p:sp>
      <p:sp>
        <p:nvSpPr>
          <p:cNvPr id="9" name="Intent box">
            <a:extLst>
              <a:ext uri="{FF2B5EF4-FFF2-40B4-BE49-F238E27FC236}">
                <a16:creationId xmlns:a16="http://schemas.microsoft.com/office/drawing/2014/main" id="{8958A2BF-F4EC-4968-B247-B4EA74AB88C2}"/>
              </a:ext>
            </a:extLst>
          </p:cNvPr>
          <p:cNvSpPr>
            <a:spLocks noGrp="1"/>
          </p:cNvSpPr>
          <p:nvPr/>
        </p:nvSpPr>
        <p:spPr>
          <a:xfrm>
            <a:off x="2167128" y="1325880"/>
            <a:ext cx="1481328" cy="1645920"/>
          </a:xfrm>
          <a:prstGeom prst="roundRect">
            <a:avLst>
              <a:gd name="adj" fmla="val 7407"/>
            </a:avLst>
          </a:prstGeom>
          <a:solidFill>
            <a:schemeClr val="bg2"/>
          </a:solidFill>
        </p:spPr>
        <p:txBody>
          <a:bodyPr/>
          <a:lstStyle/>
          <a:p>
            <a:endParaRPr/>
          </a:p>
        </p:txBody>
      </p:sp>
      <p:sp>
        <p:nvSpPr>
          <p:cNvPr id="10" name="Intent circle">
            <a:extLst>
              <a:ext uri="{FF2B5EF4-FFF2-40B4-BE49-F238E27FC236}">
                <a16:creationId xmlns:a16="http://schemas.microsoft.com/office/drawing/2014/main" id="{4AEBA4F8-3BDE-4104-96D3-7088828D4364}"/>
              </a:ext>
            </a:extLst>
          </p:cNvPr>
          <p:cNvSpPr>
            <a:spLocks noGrp="1"/>
          </p:cNvSpPr>
          <p:nvPr/>
        </p:nvSpPr>
        <p:spPr>
          <a:xfrm>
            <a:off x="2679192" y="1417320"/>
            <a:ext cx="457200" cy="457200"/>
          </a:xfrm>
          <a:prstGeom prst="ellipse">
            <a:avLst/>
          </a:prstGeom>
          <a:solidFill>
            <a:schemeClr val="accent1"/>
          </a:solidFill>
        </p:spPr>
        <p:txBody>
          <a:bodyPr/>
          <a:lstStyle/>
          <a:p>
            <a:endParaRPr/>
          </a:p>
        </p:txBody>
      </p:sp>
      <p:pic>
        <p:nvPicPr>
          <p:cNvPr id="11" name="Intent icon">
            <a:extLst>
              <a:ext uri="{FF2B5EF4-FFF2-40B4-BE49-F238E27FC236}">
                <a16:creationId xmlns:a16="http://schemas.microsoft.com/office/drawing/2014/main" id="{4131AE08-72B1-4F44-B071-D2B496EB5226}"/>
              </a:ext>
            </a:extLst>
          </p:cNvPr>
          <p:cNvPicPr>
            <a:picLocks noChangeAspect="1"/>
          </p:cNvPicPr>
          <p:nvPr/>
        </p:nvPicPr>
        <p:blipFill>
          <a:blip r:embed="rId4"/>
          <a:stretch>
            <a:fillRect/>
          </a:stretch>
        </p:blipFill>
        <p:spPr>
          <a:xfrm>
            <a:off x="2802636" y="1540764"/>
            <a:ext cx="210312" cy="210312"/>
          </a:xfrm>
          <a:prstGeom prst="rect">
            <a:avLst/>
          </a:prstGeom>
        </p:spPr>
      </p:pic>
      <p:sp>
        <p:nvSpPr>
          <p:cNvPr id="12" name="Intent heading">
            <a:extLst>
              <a:ext uri="{FF2B5EF4-FFF2-40B4-BE49-F238E27FC236}">
                <a16:creationId xmlns:a16="http://schemas.microsoft.com/office/drawing/2014/main" id="{158588FD-4F3A-4EB4-BF0F-1149601CE93A}"/>
              </a:ext>
            </a:extLst>
          </p:cNvPr>
          <p:cNvSpPr>
            <a:spLocks noGrp="1"/>
          </p:cNvSpPr>
          <p:nvPr/>
        </p:nvSpPr>
        <p:spPr>
          <a:xfrm>
            <a:off x="2240280" y="1920240"/>
            <a:ext cx="1335024" cy="320040"/>
          </a:xfrm>
          <a:prstGeom prst="rect">
            <a:avLst/>
          </a:prstGeom>
          <a:noFill/>
        </p:spPr>
        <p:txBody>
          <a:bodyPr wrap="square" lIns="0" tIns="0" rIns="0" bIns="0" anchor="ctr"/>
          <a:lstStyle/>
          <a:p>
            <a:pPr marL="0" indent="0" algn="ctr">
              <a:buNone/>
            </a:pPr>
            <a:r>
              <a:rPr sz="1400" b="1">
                <a:solidFill>
                  <a:schemeClr val="tx1"/>
                </a:solidFill>
              </a:rPr>
              <a:t>Understand</a:t>
            </a:r>
            <a:endParaRPr sz="1400"/>
          </a:p>
        </p:txBody>
      </p:sp>
      <p:sp>
        <p:nvSpPr>
          <p:cNvPr id="13" name="Intent text">
            <a:extLst>
              <a:ext uri="{FF2B5EF4-FFF2-40B4-BE49-F238E27FC236}">
                <a16:creationId xmlns:a16="http://schemas.microsoft.com/office/drawing/2014/main" id="{B77A72BA-9C49-4499-A2A3-F67DA1B33236}"/>
              </a:ext>
            </a:extLst>
          </p:cNvPr>
          <p:cNvSpPr>
            <a:spLocks noGrp="1"/>
          </p:cNvSpPr>
          <p:nvPr/>
        </p:nvSpPr>
        <p:spPr>
          <a:xfrm>
            <a:off x="2258568" y="2267712"/>
            <a:ext cx="1298448" cy="640080"/>
          </a:xfrm>
          <a:prstGeom prst="rect">
            <a:avLst/>
          </a:prstGeom>
          <a:noFill/>
        </p:spPr>
        <p:txBody>
          <a:bodyPr wrap="square" lIns="0" tIns="0" rIns="0" bIns="0" anchor="t"/>
          <a:lstStyle/>
          <a:p>
            <a:pPr marL="0" indent="0" algn="ctr">
              <a:buNone/>
            </a:pPr>
            <a:r>
              <a:rPr sz="1200">
                <a:solidFill>
                  <a:schemeClr val="tx2"/>
                </a:solidFill>
              </a:rPr>
              <a:t>Identify the topic and location</a:t>
            </a:r>
            <a:endParaRPr sz="1200"/>
          </a:p>
        </p:txBody>
      </p:sp>
      <p:sp>
        <p:nvSpPr>
          <p:cNvPr id="14" name="Pipeline arrow 2">
            <a:extLst>
              <a:ext uri="{FF2B5EF4-FFF2-40B4-BE49-F238E27FC236}">
                <a16:creationId xmlns:a16="http://schemas.microsoft.com/office/drawing/2014/main" id="{0138569F-D9BC-4FDA-9AB0-794E30B2044F}"/>
              </a:ext>
            </a:extLst>
          </p:cNvPr>
          <p:cNvSpPr>
            <a:spLocks noGrp="1"/>
          </p:cNvSpPr>
          <p:nvPr/>
        </p:nvSpPr>
        <p:spPr>
          <a:xfrm>
            <a:off x="3666744" y="2148840"/>
            <a:ext cx="146304" cy="0"/>
          </a:xfrm>
          <a:prstGeom prst="line">
            <a:avLst/>
          </a:prstGeom>
          <a:noFill/>
          <a:ln w="19050">
            <a:solidFill>
              <a:schemeClr val="accent4"/>
            </a:solidFill>
            <a:prstDash val="solid"/>
            <a:tailEnd type="triangle"/>
          </a:ln>
        </p:spPr>
        <p:txBody>
          <a:bodyPr/>
          <a:lstStyle/>
          <a:p>
            <a:endParaRPr/>
          </a:p>
        </p:txBody>
      </p:sp>
      <p:sp>
        <p:nvSpPr>
          <p:cNvPr id="15" name="Retrieve box">
            <a:extLst>
              <a:ext uri="{FF2B5EF4-FFF2-40B4-BE49-F238E27FC236}">
                <a16:creationId xmlns:a16="http://schemas.microsoft.com/office/drawing/2014/main" id="{38C9AA39-E53B-406A-8138-80B68B1D4254}"/>
              </a:ext>
            </a:extLst>
          </p:cNvPr>
          <p:cNvSpPr>
            <a:spLocks noGrp="1"/>
          </p:cNvSpPr>
          <p:nvPr/>
        </p:nvSpPr>
        <p:spPr>
          <a:xfrm>
            <a:off x="3831336" y="1325880"/>
            <a:ext cx="1481328" cy="1645920"/>
          </a:xfrm>
          <a:prstGeom prst="roundRect">
            <a:avLst>
              <a:gd name="adj" fmla="val 7407"/>
            </a:avLst>
          </a:prstGeom>
          <a:solidFill>
            <a:schemeClr val="bg2"/>
          </a:solidFill>
        </p:spPr>
        <p:txBody>
          <a:bodyPr/>
          <a:lstStyle/>
          <a:p>
            <a:endParaRPr/>
          </a:p>
        </p:txBody>
      </p:sp>
      <p:sp>
        <p:nvSpPr>
          <p:cNvPr id="16" name="Retrieve circle">
            <a:extLst>
              <a:ext uri="{FF2B5EF4-FFF2-40B4-BE49-F238E27FC236}">
                <a16:creationId xmlns:a16="http://schemas.microsoft.com/office/drawing/2014/main" id="{21FDF184-DD01-4451-BAB2-A48EE63DAA4E}"/>
              </a:ext>
            </a:extLst>
          </p:cNvPr>
          <p:cNvSpPr>
            <a:spLocks noGrp="1"/>
          </p:cNvSpPr>
          <p:nvPr/>
        </p:nvSpPr>
        <p:spPr>
          <a:xfrm>
            <a:off x="4343400" y="1417320"/>
            <a:ext cx="457200" cy="457200"/>
          </a:xfrm>
          <a:prstGeom prst="ellipse">
            <a:avLst/>
          </a:prstGeom>
          <a:solidFill>
            <a:schemeClr val="accent1"/>
          </a:solidFill>
        </p:spPr>
        <p:txBody>
          <a:bodyPr/>
          <a:lstStyle/>
          <a:p>
            <a:endParaRPr/>
          </a:p>
        </p:txBody>
      </p:sp>
      <p:pic>
        <p:nvPicPr>
          <p:cNvPr id="17" name="Retrieve icon">
            <a:extLst>
              <a:ext uri="{FF2B5EF4-FFF2-40B4-BE49-F238E27FC236}">
                <a16:creationId xmlns:a16="http://schemas.microsoft.com/office/drawing/2014/main" id="{5235778A-5782-4051-AFD9-17C706A853F6}"/>
              </a:ext>
            </a:extLst>
          </p:cNvPr>
          <p:cNvPicPr>
            <a:picLocks noChangeAspect="1"/>
          </p:cNvPicPr>
          <p:nvPr/>
        </p:nvPicPr>
        <p:blipFill>
          <a:blip r:embed="rId5"/>
          <a:stretch>
            <a:fillRect/>
          </a:stretch>
        </p:blipFill>
        <p:spPr>
          <a:xfrm>
            <a:off x="4466844" y="1540764"/>
            <a:ext cx="210312" cy="210312"/>
          </a:xfrm>
          <a:prstGeom prst="rect">
            <a:avLst/>
          </a:prstGeom>
        </p:spPr>
      </p:pic>
      <p:sp>
        <p:nvSpPr>
          <p:cNvPr id="18" name="Retrieve heading">
            <a:extLst>
              <a:ext uri="{FF2B5EF4-FFF2-40B4-BE49-F238E27FC236}">
                <a16:creationId xmlns:a16="http://schemas.microsoft.com/office/drawing/2014/main" id="{6512A332-D1FB-4221-AFDF-93A72F43ED4F}"/>
              </a:ext>
            </a:extLst>
          </p:cNvPr>
          <p:cNvSpPr>
            <a:spLocks noGrp="1"/>
          </p:cNvSpPr>
          <p:nvPr/>
        </p:nvSpPr>
        <p:spPr>
          <a:xfrm>
            <a:off x="3904488" y="1920240"/>
            <a:ext cx="1335024" cy="320040"/>
          </a:xfrm>
          <a:prstGeom prst="rect">
            <a:avLst/>
          </a:prstGeom>
          <a:noFill/>
        </p:spPr>
        <p:txBody>
          <a:bodyPr wrap="square" lIns="0" tIns="0" rIns="0" bIns="0" anchor="ctr"/>
          <a:lstStyle/>
          <a:p>
            <a:pPr marL="0" indent="0" algn="ctr">
              <a:buNone/>
            </a:pPr>
            <a:r>
              <a:rPr sz="1400" b="1">
                <a:solidFill>
                  <a:schemeClr val="tx1"/>
                </a:solidFill>
              </a:rPr>
              <a:t>Retrieve</a:t>
            </a:r>
            <a:endParaRPr sz="1400"/>
          </a:p>
        </p:txBody>
      </p:sp>
      <p:sp>
        <p:nvSpPr>
          <p:cNvPr id="19" name="Retrieve text">
            <a:extLst>
              <a:ext uri="{FF2B5EF4-FFF2-40B4-BE49-F238E27FC236}">
                <a16:creationId xmlns:a16="http://schemas.microsoft.com/office/drawing/2014/main" id="{628ADE2D-07A2-4AEE-9C5D-D52C1CF6210F}"/>
              </a:ext>
            </a:extLst>
          </p:cNvPr>
          <p:cNvSpPr>
            <a:spLocks noGrp="1"/>
          </p:cNvSpPr>
          <p:nvPr/>
        </p:nvSpPr>
        <p:spPr>
          <a:xfrm>
            <a:off x="3922776" y="2267712"/>
            <a:ext cx="1298448" cy="640080"/>
          </a:xfrm>
          <a:prstGeom prst="rect">
            <a:avLst/>
          </a:prstGeom>
          <a:noFill/>
        </p:spPr>
        <p:txBody>
          <a:bodyPr wrap="square" lIns="0" tIns="0" rIns="0" bIns="0" anchor="t"/>
          <a:lstStyle/>
          <a:p>
            <a:pPr marL="0" indent="0" algn="ctr">
              <a:buNone/>
            </a:pPr>
            <a:r>
              <a:rPr sz="1200">
                <a:solidFill>
                  <a:schemeClr val="tx2"/>
                </a:solidFill>
              </a:rPr>
              <a:t>Find and rank relevant Caritas records</a:t>
            </a:r>
            <a:endParaRPr sz="1200"/>
          </a:p>
        </p:txBody>
      </p:sp>
      <p:sp>
        <p:nvSpPr>
          <p:cNvPr id="20" name="Pipeline arrow 3">
            <a:extLst>
              <a:ext uri="{FF2B5EF4-FFF2-40B4-BE49-F238E27FC236}">
                <a16:creationId xmlns:a16="http://schemas.microsoft.com/office/drawing/2014/main" id="{4C9A0D6F-9E76-4779-8A61-E05A53C1776E}"/>
              </a:ext>
            </a:extLst>
          </p:cNvPr>
          <p:cNvSpPr>
            <a:spLocks noGrp="1"/>
          </p:cNvSpPr>
          <p:nvPr/>
        </p:nvSpPr>
        <p:spPr>
          <a:xfrm>
            <a:off x="5330952" y="2148840"/>
            <a:ext cx="146304" cy="0"/>
          </a:xfrm>
          <a:prstGeom prst="line">
            <a:avLst/>
          </a:prstGeom>
          <a:noFill/>
          <a:ln w="19050">
            <a:solidFill>
              <a:schemeClr val="accent4"/>
            </a:solidFill>
            <a:prstDash val="solid"/>
            <a:tailEnd type="triangle"/>
          </a:ln>
        </p:spPr>
        <p:txBody>
          <a:bodyPr/>
          <a:lstStyle/>
          <a:p>
            <a:endParaRPr/>
          </a:p>
        </p:txBody>
      </p:sp>
      <p:sp>
        <p:nvSpPr>
          <p:cNvPr id="21" name="Answer box">
            <a:extLst>
              <a:ext uri="{FF2B5EF4-FFF2-40B4-BE49-F238E27FC236}">
                <a16:creationId xmlns:a16="http://schemas.microsoft.com/office/drawing/2014/main" id="{76B4E6FF-56E9-4EDE-AAE0-FD034DFB93F3}"/>
              </a:ext>
            </a:extLst>
          </p:cNvPr>
          <p:cNvSpPr>
            <a:spLocks noGrp="1"/>
          </p:cNvSpPr>
          <p:nvPr/>
        </p:nvSpPr>
        <p:spPr>
          <a:xfrm>
            <a:off x="5495544" y="1325880"/>
            <a:ext cx="1481328" cy="1645920"/>
          </a:xfrm>
          <a:prstGeom prst="roundRect">
            <a:avLst>
              <a:gd name="adj" fmla="val 7407"/>
            </a:avLst>
          </a:prstGeom>
          <a:solidFill>
            <a:schemeClr val="bg2"/>
          </a:solidFill>
        </p:spPr>
        <p:txBody>
          <a:bodyPr/>
          <a:lstStyle/>
          <a:p>
            <a:endParaRPr/>
          </a:p>
        </p:txBody>
      </p:sp>
      <p:sp>
        <p:nvSpPr>
          <p:cNvPr id="22" name="Answer circle">
            <a:extLst>
              <a:ext uri="{FF2B5EF4-FFF2-40B4-BE49-F238E27FC236}">
                <a16:creationId xmlns:a16="http://schemas.microsoft.com/office/drawing/2014/main" id="{D13CDAAB-C07C-4CEC-A2C7-37114756AB1A}"/>
              </a:ext>
            </a:extLst>
          </p:cNvPr>
          <p:cNvSpPr>
            <a:spLocks noGrp="1"/>
          </p:cNvSpPr>
          <p:nvPr/>
        </p:nvSpPr>
        <p:spPr>
          <a:xfrm>
            <a:off x="6007608" y="1417320"/>
            <a:ext cx="457200" cy="457200"/>
          </a:xfrm>
          <a:prstGeom prst="ellipse">
            <a:avLst/>
          </a:prstGeom>
          <a:solidFill>
            <a:schemeClr val="accent1"/>
          </a:solidFill>
        </p:spPr>
        <p:txBody>
          <a:bodyPr/>
          <a:lstStyle/>
          <a:p>
            <a:endParaRPr/>
          </a:p>
        </p:txBody>
      </p:sp>
      <p:pic>
        <p:nvPicPr>
          <p:cNvPr id="23" name="Answer icon">
            <a:extLst>
              <a:ext uri="{FF2B5EF4-FFF2-40B4-BE49-F238E27FC236}">
                <a16:creationId xmlns:a16="http://schemas.microsoft.com/office/drawing/2014/main" id="{516F6E4D-CC30-4FAA-BCC6-C8982309256E}"/>
              </a:ext>
            </a:extLst>
          </p:cNvPr>
          <p:cNvPicPr>
            <a:picLocks noChangeAspect="1"/>
          </p:cNvPicPr>
          <p:nvPr/>
        </p:nvPicPr>
        <p:blipFill>
          <a:blip r:embed="rId6"/>
          <a:stretch>
            <a:fillRect/>
          </a:stretch>
        </p:blipFill>
        <p:spPr>
          <a:xfrm>
            <a:off x="6131052" y="1540764"/>
            <a:ext cx="210312" cy="210312"/>
          </a:xfrm>
          <a:prstGeom prst="rect">
            <a:avLst/>
          </a:prstGeom>
        </p:spPr>
      </p:pic>
      <p:sp>
        <p:nvSpPr>
          <p:cNvPr id="24" name="Answer heading">
            <a:extLst>
              <a:ext uri="{FF2B5EF4-FFF2-40B4-BE49-F238E27FC236}">
                <a16:creationId xmlns:a16="http://schemas.microsoft.com/office/drawing/2014/main" id="{0A3C9BB7-EF9A-43F5-8DA2-E0FA98D1711D}"/>
              </a:ext>
            </a:extLst>
          </p:cNvPr>
          <p:cNvSpPr>
            <a:spLocks noGrp="1"/>
          </p:cNvSpPr>
          <p:nvPr/>
        </p:nvSpPr>
        <p:spPr>
          <a:xfrm>
            <a:off x="5568696" y="1920240"/>
            <a:ext cx="1335024" cy="320040"/>
          </a:xfrm>
          <a:prstGeom prst="rect">
            <a:avLst/>
          </a:prstGeom>
          <a:noFill/>
        </p:spPr>
        <p:txBody>
          <a:bodyPr wrap="square" lIns="0" tIns="0" rIns="0" bIns="0" anchor="ctr"/>
          <a:lstStyle/>
          <a:p>
            <a:pPr marL="0" indent="0" algn="ctr">
              <a:buNone/>
            </a:pPr>
            <a:r>
              <a:rPr sz="1400" b="1">
                <a:solidFill>
                  <a:schemeClr val="tx1"/>
                </a:solidFill>
              </a:rPr>
              <a:t>Answer</a:t>
            </a:r>
            <a:endParaRPr sz="1400"/>
          </a:p>
        </p:txBody>
      </p:sp>
      <p:sp>
        <p:nvSpPr>
          <p:cNvPr id="25" name="Answer text">
            <a:extLst>
              <a:ext uri="{FF2B5EF4-FFF2-40B4-BE49-F238E27FC236}">
                <a16:creationId xmlns:a16="http://schemas.microsoft.com/office/drawing/2014/main" id="{465E5455-1696-43BA-B21B-6C0BFAF2434E}"/>
              </a:ext>
            </a:extLst>
          </p:cNvPr>
          <p:cNvSpPr>
            <a:spLocks noGrp="1"/>
          </p:cNvSpPr>
          <p:nvPr/>
        </p:nvSpPr>
        <p:spPr>
          <a:xfrm>
            <a:off x="5586984" y="2267712"/>
            <a:ext cx="1298448" cy="640080"/>
          </a:xfrm>
          <a:prstGeom prst="rect">
            <a:avLst/>
          </a:prstGeom>
          <a:noFill/>
        </p:spPr>
        <p:txBody>
          <a:bodyPr wrap="square" lIns="0" tIns="0" rIns="0" bIns="0" anchor="t"/>
          <a:lstStyle/>
          <a:p>
            <a:pPr marL="0" indent="0" algn="ctr">
              <a:buNone/>
            </a:pPr>
            <a:r>
              <a:rPr sz="1200">
                <a:solidFill>
                  <a:schemeClr val="tx2"/>
                </a:solidFill>
              </a:rPr>
              <a:t>Generate a reply from retrieved information</a:t>
            </a:r>
            <a:endParaRPr sz="1200"/>
          </a:p>
        </p:txBody>
      </p:sp>
      <p:sp>
        <p:nvSpPr>
          <p:cNvPr id="26" name="Pipeline arrow 4">
            <a:extLst>
              <a:ext uri="{FF2B5EF4-FFF2-40B4-BE49-F238E27FC236}">
                <a16:creationId xmlns:a16="http://schemas.microsoft.com/office/drawing/2014/main" id="{05D6D5F8-4FAA-4957-A9F0-B97A25D2D348}"/>
              </a:ext>
            </a:extLst>
          </p:cNvPr>
          <p:cNvSpPr>
            <a:spLocks noGrp="1"/>
          </p:cNvSpPr>
          <p:nvPr/>
        </p:nvSpPr>
        <p:spPr>
          <a:xfrm>
            <a:off x="6995160" y="2148840"/>
            <a:ext cx="146304" cy="0"/>
          </a:xfrm>
          <a:prstGeom prst="line">
            <a:avLst/>
          </a:prstGeom>
          <a:noFill/>
          <a:ln w="19050">
            <a:solidFill>
              <a:schemeClr val="accent4"/>
            </a:solidFill>
            <a:prstDash val="solid"/>
            <a:tailEnd type="triangle"/>
          </a:ln>
        </p:spPr>
        <p:txBody>
          <a:bodyPr/>
          <a:lstStyle/>
          <a:p>
            <a:endParaRPr/>
          </a:p>
        </p:txBody>
      </p:sp>
      <p:sp>
        <p:nvSpPr>
          <p:cNvPr id="27" name="TTS box">
            <a:extLst>
              <a:ext uri="{FF2B5EF4-FFF2-40B4-BE49-F238E27FC236}">
                <a16:creationId xmlns:a16="http://schemas.microsoft.com/office/drawing/2014/main" id="{23655955-5C31-4D33-84AD-3EC35B437390}"/>
              </a:ext>
            </a:extLst>
          </p:cNvPr>
          <p:cNvSpPr>
            <a:spLocks noGrp="1"/>
          </p:cNvSpPr>
          <p:nvPr/>
        </p:nvSpPr>
        <p:spPr>
          <a:xfrm>
            <a:off x="7159752" y="1325880"/>
            <a:ext cx="1481328" cy="1645920"/>
          </a:xfrm>
          <a:prstGeom prst="roundRect">
            <a:avLst>
              <a:gd name="adj" fmla="val 7407"/>
            </a:avLst>
          </a:prstGeom>
          <a:solidFill>
            <a:schemeClr val="bg2"/>
          </a:solidFill>
        </p:spPr>
        <p:txBody>
          <a:bodyPr/>
          <a:lstStyle/>
          <a:p>
            <a:endParaRPr/>
          </a:p>
        </p:txBody>
      </p:sp>
      <p:sp>
        <p:nvSpPr>
          <p:cNvPr id="28" name="TTS circle">
            <a:extLst>
              <a:ext uri="{FF2B5EF4-FFF2-40B4-BE49-F238E27FC236}">
                <a16:creationId xmlns:a16="http://schemas.microsoft.com/office/drawing/2014/main" id="{376E15A2-75E3-4B70-85B8-27008B4B1F51}"/>
              </a:ext>
            </a:extLst>
          </p:cNvPr>
          <p:cNvSpPr>
            <a:spLocks noGrp="1"/>
          </p:cNvSpPr>
          <p:nvPr/>
        </p:nvSpPr>
        <p:spPr>
          <a:xfrm>
            <a:off x="7671816" y="1417320"/>
            <a:ext cx="457200" cy="457200"/>
          </a:xfrm>
          <a:prstGeom prst="ellipse">
            <a:avLst/>
          </a:prstGeom>
          <a:solidFill>
            <a:schemeClr val="accent1"/>
          </a:solidFill>
        </p:spPr>
        <p:txBody>
          <a:bodyPr/>
          <a:lstStyle/>
          <a:p>
            <a:endParaRPr/>
          </a:p>
        </p:txBody>
      </p:sp>
      <p:pic>
        <p:nvPicPr>
          <p:cNvPr id="29" name="TTS icon">
            <a:extLst>
              <a:ext uri="{FF2B5EF4-FFF2-40B4-BE49-F238E27FC236}">
                <a16:creationId xmlns:a16="http://schemas.microsoft.com/office/drawing/2014/main" id="{29CB3257-6CC7-43C3-9479-7AE49FEED5E6}"/>
              </a:ext>
            </a:extLst>
          </p:cNvPr>
          <p:cNvPicPr>
            <a:picLocks noChangeAspect="1"/>
          </p:cNvPicPr>
          <p:nvPr/>
        </p:nvPicPr>
        <p:blipFill>
          <a:blip r:embed="rId7"/>
          <a:stretch>
            <a:fillRect/>
          </a:stretch>
        </p:blipFill>
        <p:spPr>
          <a:xfrm>
            <a:off x="7795260" y="1540764"/>
            <a:ext cx="210312" cy="210312"/>
          </a:xfrm>
          <a:prstGeom prst="rect">
            <a:avLst/>
          </a:prstGeom>
        </p:spPr>
      </p:pic>
      <p:sp>
        <p:nvSpPr>
          <p:cNvPr id="30" name="TTS heading">
            <a:extLst>
              <a:ext uri="{FF2B5EF4-FFF2-40B4-BE49-F238E27FC236}">
                <a16:creationId xmlns:a16="http://schemas.microsoft.com/office/drawing/2014/main" id="{21BCBC93-0352-4E38-8E34-404C8E1DA2A9}"/>
              </a:ext>
            </a:extLst>
          </p:cNvPr>
          <p:cNvSpPr>
            <a:spLocks noGrp="1"/>
          </p:cNvSpPr>
          <p:nvPr/>
        </p:nvSpPr>
        <p:spPr>
          <a:xfrm>
            <a:off x="7232904" y="1920240"/>
            <a:ext cx="1335024" cy="320040"/>
          </a:xfrm>
          <a:prstGeom prst="rect">
            <a:avLst/>
          </a:prstGeom>
          <a:noFill/>
        </p:spPr>
        <p:txBody>
          <a:bodyPr wrap="square" lIns="0" tIns="0" rIns="0" bIns="0" anchor="ctr"/>
          <a:lstStyle/>
          <a:p>
            <a:pPr marL="0" indent="0" algn="ctr">
              <a:buNone/>
            </a:pPr>
            <a:r>
              <a:rPr sz="1400" b="1">
                <a:solidFill>
                  <a:schemeClr val="tx1"/>
                </a:solidFill>
              </a:rPr>
              <a:t>Text → speech</a:t>
            </a:r>
            <a:endParaRPr sz="1400"/>
          </a:p>
        </p:txBody>
      </p:sp>
      <p:sp>
        <p:nvSpPr>
          <p:cNvPr id="31" name="TTS text">
            <a:extLst>
              <a:ext uri="{FF2B5EF4-FFF2-40B4-BE49-F238E27FC236}">
                <a16:creationId xmlns:a16="http://schemas.microsoft.com/office/drawing/2014/main" id="{DBA5DDF2-44B3-4B38-BDDB-0D6A2B73F5C4}"/>
              </a:ext>
            </a:extLst>
          </p:cNvPr>
          <p:cNvSpPr>
            <a:spLocks noGrp="1"/>
          </p:cNvSpPr>
          <p:nvPr/>
        </p:nvSpPr>
        <p:spPr>
          <a:xfrm>
            <a:off x="7251192" y="2267712"/>
            <a:ext cx="1298448" cy="640080"/>
          </a:xfrm>
          <a:prstGeom prst="rect">
            <a:avLst/>
          </a:prstGeom>
          <a:noFill/>
        </p:spPr>
        <p:txBody>
          <a:bodyPr wrap="square" lIns="0" tIns="0" rIns="0" bIns="0" anchor="t"/>
          <a:lstStyle/>
          <a:p>
            <a:pPr marL="0" indent="0" algn="ctr">
              <a:buNone/>
            </a:pPr>
            <a:r>
              <a:rPr sz="1200">
                <a:solidFill>
                  <a:schemeClr val="tx2"/>
                </a:solidFill>
              </a:rPr>
              <a:t>A concise answer is spoken aloud</a:t>
            </a:r>
            <a:endParaRPr sz="1200"/>
          </a:p>
        </p:txBody>
      </p:sp>
      <p:sp>
        <p:nvSpPr>
          <p:cNvPr id="32" name="KB arrow">
            <a:extLst>
              <a:ext uri="{FF2B5EF4-FFF2-40B4-BE49-F238E27FC236}">
                <a16:creationId xmlns:a16="http://schemas.microsoft.com/office/drawing/2014/main" id="{BEAB66BC-C6D9-446D-BABA-948CF62A5F80}"/>
              </a:ext>
            </a:extLst>
          </p:cNvPr>
          <p:cNvSpPr>
            <a:spLocks noGrp="1"/>
          </p:cNvSpPr>
          <p:nvPr/>
        </p:nvSpPr>
        <p:spPr>
          <a:xfrm>
            <a:off x="4572000" y="2971800"/>
            <a:ext cx="0" cy="320040"/>
          </a:xfrm>
          <a:prstGeom prst="line">
            <a:avLst/>
          </a:prstGeom>
          <a:noFill/>
          <a:ln w="25400">
            <a:solidFill>
              <a:schemeClr val="accent1"/>
            </a:solidFill>
            <a:prstDash val="solid"/>
            <a:headEnd type="triangle"/>
          </a:ln>
        </p:spPr>
        <p:txBody>
          <a:bodyPr/>
          <a:lstStyle/>
          <a:p>
            <a:endParaRPr/>
          </a:p>
        </p:txBody>
      </p:sp>
      <p:sp>
        <p:nvSpPr>
          <p:cNvPr id="33" name="Knowledge base bar">
            <a:extLst>
              <a:ext uri="{FF2B5EF4-FFF2-40B4-BE49-F238E27FC236}">
                <a16:creationId xmlns:a16="http://schemas.microsoft.com/office/drawing/2014/main" id="{C52896E1-9000-495E-A9B3-EC40B4CF3552}"/>
              </a:ext>
            </a:extLst>
          </p:cNvPr>
          <p:cNvSpPr>
            <a:spLocks noGrp="1"/>
          </p:cNvSpPr>
          <p:nvPr/>
        </p:nvSpPr>
        <p:spPr>
          <a:xfrm>
            <a:off x="502920" y="3291840"/>
            <a:ext cx="8138160" cy="548640"/>
          </a:xfrm>
          <a:prstGeom prst="roundRect">
            <a:avLst>
              <a:gd name="adj" fmla="val 20000"/>
            </a:avLst>
          </a:prstGeom>
          <a:solidFill>
            <a:schemeClr val="accent1"/>
          </a:solidFill>
        </p:spPr>
        <p:txBody>
          <a:bodyPr/>
          <a:lstStyle/>
          <a:p>
            <a:endParaRPr/>
          </a:p>
        </p:txBody>
      </p:sp>
      <p:sp>
        <p:nvSpPr>
          <p:cNvPr id="34" name="Knowledge base text">
            <a:extLst>
              <a:ext uri="{FF2B5EF4-FFF2-40B4-BE49-F238E27FC236}">
                <a16:creationId xmlns:a16="http://schemas.microsoft.com/office/drawing/2014/main" id="{B6504EE1-1840-46BB-B2AC-06A1F7D0CF4C}"/>
              </a:ext>
            </a:extLst>
          </p:cNvPr>
          <p:cNvSpPr>
            <a:spLocks noGrp="1"/>
          </p:cNvSpPr>
          <p:nvPr/>
        </p:nvSpPr>
        <p:spPr>
          <a:xfrm>
            <a:off x="685800" y="3291840"/>
            <a:ext cx="7772400" cy="548640"/>
          </a:xfrm>
          <a:prstGeom prst="rect">
            <a:avLst/>
          </a:prstGeom>
          <a:noFill/>
        </p:spPr>
        <p:txBody>
          <a:bodyPr wrap="square" lIns="0" tIns="0" rIns="0" bIns="0" anchor="ctr"/>
          <a:lstStyle/>
          <a:p>
            <a:pPr marL="0" indent="0">
              <a:buNone/>
            </a:pPr>
            <a:r>
              <a:rPr sz="1400" b="1">
                <a:solidFill>
                  <a:schemeClr val="bg1"/>
                </a:solidFill>
              </a:rPr>
              <a:t>RAG = Retrieval-Augmented Generation. It grounds the answer in retrieved Caritas records.</a:t>
            </a:r>
            <a:endParaRPr sz="1400"/>
          </a:p>
        </p:txBody>
      </p:sp>
      <p:sp>
        <p:nvSpPr>
          <p:cNvPr id="35" name="Guardrail data chip">
            <a:extLst>
              <a:ext uri="{FF2B5EF4-FFF2-40B4-BE49-F238E27FC236}">
                <a16:creationId xmlns:a16="http://schemas.microsoft.com/office/drawing/2014/main" id="{F5615E25-CB20-4583-B079-AC207325BEE2}"/>
              </a:ext>
            </a:extLst>
          </p:cNvPr>
          <p:cNvSpPr>
            <a:spLocks noGrp="1"/>
          </p:cNvSpPr>
          <p:nvPr/>
        </p:nvSpPr>
        <p:spPr>
          <a:xfrm>
            <a:off x="502920" y="3977640"/>
            <a:ext cx="3017520" cy="411480"/>
          </a:xfrm>
          <a:prstGeom prst="roundRect">
            <a:avLst>
              <a:gd name="adj" fmla="val 44444"/>
            </a:avLst>
          </a:prstGeom>
          <a:solidFill>
            <a:schemeClr val="accent6"/>
          </a:solidFill>
        </p:spPr>
        <p:txBody>
          <a:bodyPr/>
          <a:lstStyle/>
          <a:p>
            <a:endParaRPr/>
          </a:p>
        </p:txBody>
      </p:sp>
      <p:pic>
        <p:nvPicPr>
          <p:cNvPr id="36" name="Guardrail data icon">
            <a:extLst>
              <a:ext uri="{FF2B5EF4-FFF2-40B4-BE49-F238E27FC236}">
                <a16:creationId xmlns:a16="http://schemas.microsoft.com/office/drawing/2014/main" id="{359328D2-43AB-4B57-B72C-014DBB72B9E5}"/>
              </a:ext>
            </a:extLst>
          </p:cNvPr>
          <p:cNvPicPr>
            <a:picLocks noChangeAspect="1"/>
          </p:cNvPicPr>
          <p:nvPr/>
        </p:nvPicPr>
        <p:blipFill>
          <a:blip r:embed="rId8"/>
          <a:stretch>
            <a:fillRect/>
          </a:stretch>
        </p:blipFill>
        <p:spPr>
          <a:xfrm>
            <a:off x="640080" y="4069080"/>
            <a:ext cx="228600" cy="228600"/>
          </a:xfrm>
          <a:prstGeom prst="rect">
            <a:avLst/>
          </a:prstGeom>
        </p:spPr>
      </p:pic>
      <p:sp>
        <p:nvSpPr>
          <p:cNvPr id="37" name="Guardrail data text">
            <a:extLst>
              <a:ext uri="{FF2B5EF4-FFF2-40B4-BE49-F238E27FC236}">
                <a16:creationId xmlns:a16="http://schemas.microsoft.com/office/drawing/2014/main" id="{3B037071-D4CD-4996-BC41-9EFCB536E1D6}"/>
              </a:ext>
            </a:extLst>
          </p:cNvPr>
          <p:cNvSpPr>
            <a:spLocks noGrp="1"/>
          </p:cNvSpPr>
          <p:nvPr/>
        </p:nvSpPr>
        <p:spPr>
          <a:xfrm>
            <a:off x="960120" y="3977640"/>
            <a:ext cx="2468880" cy="411480"/>
          </a:xfrm>
          <a:prstGeom prst="rect">
            <a:avLst/>
          </a:prstGeom>
          <a:noFill/>
        </p:spPr>
        <p:txBody>
          <a:bodyPr wrap="square" lIns="0" tIns="0" rIns="0" bIns="0" anchor="ctr"/>
          <a:lstStyle/>
          <a:p>
            <a:pPr marL="0" indent="0">
              <a:buNone/>
            </a:pPr>
            <a:r>
              <a:rPr sz="1200" b="1">
                <a:solidFill>
                  <a:schemeClr val="accent2"/>
                </a:solidFill>
              </a:rPr>
              <a:t>Contact details come from records</a:t>
            </a:r>
            <a:endParaRPr sz="1200"/>
          </a:p>
        </p:txBody>
      </p:sp>
      <p:sp>
        <p:nvSpPr>
          <p:cNvPr id="38" name="Guardrail crisis chip">
            <a:extLst>
              <a:ext uri="{FF2B5EF4-FFF2-40B4-BE49-F238E27FC236}">
                <a16:creationId xmlns:a16="http://schemas.microsoft.com/office/drawing/2014/main" id="{B7166362-186F-4A7D-9BAA-F127D2C0C89E}"/>
              </a:ext>
            </a:extLst>
          </p:cNvPr>
          <p:cNvSpPr>
            <a:spLocks noGrp="1"/>
          </p:cNvSpPr>
          <p:nvPr/>
        </p:nvSpPr>
        <p:spPr>
          <a:xfrm>
            <a:off x="3703320" y="3977640"/>
            <a:ext cx="2743200" cy="411480"/>
          </a:xfrm>
          <a:prstGeom prst="roundRect">
            <a:avLst>
              <a:gd name="adj" fmla="val 44444"/>
            </a:avLst>
          </a:prstGeom>
          <a:solidFill>
            <a:schemeClr val="accent6"/>
          </a:solidFill>
        </p:spPr>
        <p:txBody>
          <a:bodyPr/>
          <a:lstStyle/>
          <a:p>
            <a:endParaRPr/>
          </a:p>
        </p:txBody>
      </p:sp>
      <p:pic>
        <p:nvPicPr>
          <p:cNvPr id="39" name="Guardrail crisis icon">
            <a:extLst>
              <a:ext uri="{FF2B5EF4-FFF2-40B4-BE49-F238E27FC236}">
                <a16:creationId xmlns:a16="http://schemas.microsoft.com/office/drawing/2014/main" id="{C56261FD-705C-4372-9B98-1CA2008DB512}"/>
              </a:ext>
            </a:extLst>
          </p:cNvPr>
          <p:cNvPicPr>
            <a:picLocks noChangeAspect="1"/>
          </p:cNvPicPr>
          <p:nvPr/>
        </p:nvPicPr>
        <p:blipFill>
          <a:blip r:embed="rId9"/>
          <a:stretch>
            <a:fillRect/>
          </a:stretch>
        </p:blipFill>
        <p:spPr>
          <a:xfrm>
            <a:off x="3840480" y="4069080"/>
            <a:ext cx="228600" cy="228600"/>
          </a:xfrm>
          <a:prstGeom prst="rect">
            <a:avLst/>
          </a:prstGeom>
        </p:spPr>
      </p:pic>
      <p:sp>
        <p:nvSpPr>
          <p:cNvPr id="40" name="Guardrail crisis text">
            <a:extLst>
              <a:ext uri="{FF2B5EF4-FFF2-40B4-BE49-F238E27FC236}">
                <a16:creationId xmlns:a16="http://schemas.microsoft.com/office/drawing/2014/main" id="{1E5A3FDF-3A5C-4373-985D-E0A93FFB9083}"/>
              </a:ext>
            </a:extLst>
          </p:cNvPr>
          <p:cNvSpPr>
            <a:spLocks noGrp="1"/>
          </p:cNvSpPr>
          <p:nvPr/>
        </p:nvSpPr>
        <p:spPr>
          <a:xfrm>
            <a:off x="4160520" y="3977640"/>
            <a:ext cx="2194560" cy="411480"/>
          </a:xfrm>
          <a:prstGeom prst="rect">
            <a:avLst/>
          </a:prstGeom>
          <a:noFill/>
        </p:spPr>
        <p:txBody>
          <a:bodyPr wrap="square" lIns="0" tIns="0" rIns="0" bIns="0" anchor="ctr"/>
          <a:lstStyle/>
          <a:p>
            <a:pPr marL="0" indent="0">
              <a:buNone/>
            </a:pPr>
            <a:r>
              <a:rPr sz="1200" b="1">
                <a:solidFill>
                  <a:schemeClr val="accent2"/>
                </a:solidFill>
              </a:rPr>
              <a:t>Crisis wording triggers emergency guidance (112)</a:t>
            </a:r>
            <a:endParaRPr sz="1200"/>
          </a:p>
        </p:txBody>
      </p:sp>
    </p:spTree>
    <p:extLst>
      <p:ext uri="{BB962C8B-B14F-4D97-AF65-F5344CB8AC3E}">
        <p14:creationId xmlns:p14="http://schemas.microsoft.com/office/powerpoint/2010/main" val="1157274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877A23C-D598-426E-8811-69700D9B55F8}"/>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Live demo: from a sentence to support</a:t>
            </a:r>
            <a:endParaRPr sz="3200"/>
          </a:p>
        </p:txBody>
      </p:sp>
      <p:sp>
        <p:nvSpPr>
          <p:cNvPr id="3" name="Phrase 1 bubble">
            <a:extLst>
              <a:ext uri="{FF2B5EF4-FFF2-40B4-BE49-F238E27FC236}">
                <a16:creationId xmlns:a16="http://schemas.microsoft.com/office/drawing/2014/main" id="{98C9A666-924B-4919-922C-02160E927C93}"/>
              </a:ext>
            </a:extLst>
          </p:cNvPr>
          <p:cNvSpPr>
            <a:spLocks noGrp="1"/>
          </p:cNvSpPr>
          <p:nvPr/>
        </p:nvSpPr>
        <p:spPr>
          <a:xfrm>
            <a:off x="548640" y="1371600"/>
            <a:ext cx="4297680" cy="685800"/>
          </a:xfrm>
          <a:prstGeom prst="roundRect">
            <a:avLst>
              <a:gd name="adj" fmla="val 26667"/>
            </a:avLst>
          </a:prstGeom>
          <a:solidFill>
            <a:schemeClr val="bg2"/>
          </a:solidFill>
        </p:spPr>
        <p:txBody>
          <a:bodyPr/>
          <a:lstStyle/>
          <a:p>
            <a:endParaRPr/>
          </a:p>
        </p:txBody>
      </p:sp>
      <p:sp>
        <p:nvSpPr>
          <p:cNvPr id="4" name="Phrase 1">
            <a:extLst>
              <a:ext uri="{FF2B5EF4-FFF2-40B4-BE49-F238E27FC236}">
                <a16:creationId xmlns:a16="http://schemas.microsoft.com/office/drawing/2014/main" id="{15960D56-D902-47C6-B737-4566D1F527A8}"/>
              </a:ext>
            </a:extLst>
          </p:cNvPr>
          <p:cNvSpPr>
            <a:spLocks noGrp="1"/>
          </p:cNvSpPr>
          <p:nvPr/>
        </p:nvSpPr>
        <p:spPr>
          <a:xfrm>
            <a:off x="777240" y="1371600"/>
            <a:ext cx="3931920" cy="685800"/>
          </a:xfrm>
          <a:prstGeom prst="rect">
            <a:avLst/>
          </a:prstGeom>
          <a:noFill/>
        </p:spPr>
        <p:txBody>
          <a:bodyPr wrap="square" lIns="0" tIns="0" rIns="0" bIns="0" anchor="ctr"/>
          <a:lstStyle/>
          <a:p>
            <a:pPr marL="0" indent="0">
              <a:buNone/>
            </a:pPr>
            <a:r>
              <a:rPr sz="1800" b="1" i="1">
                <a:solidFill>
                  <a:schemeClr val="tx1"/>
                </a:solidFill>
              </a:rPr>
              <a:t>“I have just lost my house.”</a:t>
            </a:r>
            <a:endParaRPr sz="1800"/>
          </a:p>
        </p:txBody>
      </p:sp>
      <p:sp>
        <p:nvSpPr>
          <p:cNvPr id="5" name="Demo arrow 1">
            <a:extLst>
              <a:ext uri="{FF2B5EF4-FFF2-40B4-BE49-F238E27FC236}">
                <a16:creationId xmlns:a16="http://schemas.microsoft.com/office/drawing/2014/main" id="{2BA31F4D-E25C-4373-8FFD-21E7123D119F}"/>
              </a:ext>
            </a:extLst>
          </p:cNvPr>
          <p:cNvSpPr>
            <a:spLocks noGrp="1"/>
          </p:cNvSpPr>
          <p:nvPr/>
        </p:nvSpPr>
        <p:spPr>
          <a:xfrm>
            <a:off x="4937760" y="1714500"/>
            <a:ext cx="548640" cy="0"/>
          </a:xfrm>
          <a:prstGeom prst="line">
            <a:avLst/>
          </a:prstGeom>
          <a:noFill/>
          <a:ln w="31750">
            <a:solidFill>
              <a:schemeClr val="accent4"/>
            </a:solidFill>
            <a:prstDash val="solid"/>
            <a:tailEnd type="triangle"/>
          </a:ln>
        </p:spPr>
        <p:txBody>
          <a:bodyPr/>
          <a:lstStyle/>
          <a:p>
            <a:endParaRPr/>
          </a:p>
        </p:txBody>
      </p:sp>
      <p:sp>
        <p:nvSpPr>
          <p:cNvPr id="6" name="Result 1 pill">
            <a:extLst>
              <a:ext uri="{FF2B5EF4-FFF2-40B4-BE49-F238E27FC236}">
                <a16:creationId xmlns:a16="http://schemas.microsoft.com/office/drawing/2014/main" id="{A8846B77-EA93-4869-8ADB-581F759CF662}"/>
              </a:ext>
            </a:extLst>
          </p:cNvPr>
          <p:cNvSpPr>
            <a:spLocks noGrp="1"/>
          </p:cNvSpPr>
          <p:nvPr/>
        </p:nvSpPr>
        <p:spPr>
          <a:xfrm>
            <a:off x="5577840" y="1371600"/>
            <a:ext cx="3017520" cy="685800"/>
          </a:xfrm>
          <a:prstGeom prst="roundRect">
            <a:avLst>
              <a:gd name="adj" fmla="val 26667"/>
            </a:avLst>
          </a:prstGeom>
          <a:solidFill>
            <a:schemeClr val="accent1"/>
          </a:solidFill>
        </p:spPr>
        <p:txBody>
          <a:bodyPr/>
          <a:lstStyle/>
          <a:p>
            <a:endParaRPr/>
          </a:p>
        </p:txBody>
      </p:sp>
      <p:sp>
        <p:nvSpPr>
          <p:cNvPr id="7" name="Result 1">
            <a:extLst>
              <a:ext uri="{FF2B5EF4-FFF2-40B4-BE49-F238E27FC236}">
                <a16:creationId xmlns:a16="http://schemas.microsoft.com/office/drawing/2014/main" id="{81EA3D8A-65A6-4B8D-BB09-E91612A7151D}"/>
              </a:ext>
            </a:extLst>
          </p:cNvPr>
          <p:cNvSpPr>
            <a:spLocks noGrp="1"/>
          </p:cNvSpPr>
          <p:nvPr/>
        </p:nvSpPr>
        <p:spPr>
          <a:xfrm>
            <a:off x="5577840" y="1371600"/>
            <a:ext cx="3017520" cy="685800"/>
          </a:xfrm>
          <a:prstGeom prst="rect">
            <a:avLst/>
          </a:prstGeom>
          <a:noFill/>
        </p:spPr>
        <p:txBody>
          <a:bodyPr wrap="square" lIns="0" tIns="0" rIns="0" bIns="0" anchor="ctr"/>
          <a:lstStyle/>
          <a:p>
            <a:pPr marL="0" indent="0" algn="ctr">
              <a:buNone/>
            </a:pPr>
            <a:r>
              <a:rPr sz="1800" b="1">
                <a:solidFill>
                  <a:schemeClr val="bg1"/>
                </a:solidFill>
              </a:rPr>
              <a:t>Housing counseling</a:t>
            </a:r>
            <a:endParaRPr sz="1800"/>
          </a:p>
        </p:txBody>
      </p:sp>
      <p:sp>
        <p:nvSpPr>
          <p:cNvPr id="8" name="Phrase 2 bubble">
            <a:extLst>
              <a:ext uri="{FF2B5EF4-FFF2-40B4-BE49-F238E27FC236}">
                <a16:creationId xmlns:a16="http://schemas.microsoft.com/office/drawing/2014/main" id="{AA2A3742-D10F-4F65-9759-FD13B001F467}"/>
              </a:ext>
            </a:extLst>
          </p:cNvPr>
          <p:cNvSpPr>
            <a:spLocks noGrp="1"/>
          </p:cNvSpPr>
          <p:nvPr/>
        </p:nvSpPr>
        <p:spPr>
          <a:xfrm>
            <a:off x="548640" y="2240280"/>
            <a:ext cx="4297680" cy="685800"/>
          </a:xfrm>
          <a:prstGeom prst="roundRect">
            <a:avLst>
              <a:gd name="adj" fmla="val 26667"/>
            </a:avLst>
          </a:prstGeom>
          <a:solidFill>
            <a:schemeClr val="bg2"/>
          </a:solidFill>
        </p:spPr>
        <p:txBody>
          <a:bodyPr/>
          <a:lstStyle/>
          <a:p>
            <a:endParaRPr/>
          </a:p>
        </p:txBody>
      </p:sp>
      <p:sp>
        <p:nvSpPr>
          <p:cNvPr id="9" name="Phrase 2">
            <a:extLst>
              <a:ext uri="{FF2B5EF4-FFF2-40B4-BE49-F238E27FC236}">
                <a16:creationId xmlns:a16="http://schemas.microsoft.com/office/drawing/2014/main" id="{2F623A68-EFFD-46B0-B066-CDC330784C5E}"/>
              </a:ext>
            </a:extLst>
          </p:cNvPr>
          <p:cNvSpPr>
            <a:spLocks noGrp="1"/>
          </p:cNvSpPr>
          <p:nvPr/>
        </p:nvSpPr>
        <p:spPr>
          <a:xfrm>
            <a:off x="777240" y="2240280"/>
            <a:ext cx="3931920" cy="685800"/>
          </a:xfrm>
          <a:prstGeom prst="rect">
            <a:avLst/>
          </a:prstGeom>
          <a:noFill/>
        </p:spPr>
        <p:txBody>
          <a:bodyPr wrap="square" lIns="0" tIns="0" rIns="0" bIns="0" anchor="ctr"/>
          <a:lstStyle/>
          <a:p>
            <a:pPr marL="0" indent="0">
              <a:buNone/>
            </a:pPr>
            <a:r>
              <a:rPr sz="1800" b="1" i="1">
                <a:solidFill>
                  <a:schemeClr val="tx1"/>
                </a:solidFill>
              </a:rPr>
              <a:t>“I'm pregnant and don’t know what to do.”</a:t>
            </a:r>
            <a:endParaRPr sz="1800"/>
          </a:p>
        </p:txBody>
      </p:sp>
      <p:sp>
        <p:nvSpPr>
          <p:cNvPr id="10" name="Demo arrow 2">
            <a:extLst>
              <a:ext uri="{FF2B5EF4-FFF2-40B4-BE49-F238E27FC236}">
                <a16:creationId xmlns:a16="http://schemas.microsoft.com/office/drawing/2014/main" id="{4A6B5D66-6070-408D-B829-0C9F948F542A}"/>
              </a:ext>
            </a:extLst>
          </p:cNvPr>
          <p:cNvSpPr>
            <a:spLocks noGrp="1"/>
          </p:cNvSpPr>
          <p:nvPr/>
        </p:nvSpPr>
        <p:spPr>
          <a:xfrm>
            <a:off x="4937760" y="2583180"/>
            <a:ext cx="548640" cy="0"/>
          </a:xfrm>
          <a:prstGeom prst="line">
            <a:avLst/>
          </a:prstGeom>
          <a:noFill/>
          <a:ln w="31750">
            <a:solidFill>
              <a:schemeClr val="accent4"/>
            </a:solidFill>
            <a:prstDash val="solid"/>
            <a:tailEnd type="triangle"/>
          </a:ln>
        </p:spPr>
        <p:txBody>
          <a:bodyPr/>
          <a:lstStyle/>
          <a:p>
            <a:endParaRPr/>
          </a:p>
        </p:txBody>
      </p:sp>
      <p:sp>
        <p:nvSpPr>
          <p:cNvPr id="11" name="Result 2 pill">
            <a:extLst>
              <a:ext uri="{FF2B5EF4-FFF2-40B4-BE49-F238E27FC236}">
                <a16:creationId xmlns:a16="http://schemas.microsoft.com/office/drawing/2014/main" id="{0F888788-13D7-4DCA-B8FB-8B23A8134737}"/>
              </a:ext>
            </a:extLst>
          </p:cNvPr>
          <p:cNvSpPr>
            <a:spLocks noGrp="1"/>
          </p:cNvSpPr>
          <p:nvPr/>
        </p:nvSpPr>
        <p:spPr>
          <a:xfrm>
            <a:off x="5577840" y="2240280"/>
            <a:ext cx="3017520" cy="685800"/>
          </a:xfrm>
          <a:prstGeom prst="roundRect">
            <a:avLst>
              <a:gd name="adj" fmla="val 26667"/>
            </a:avLst>
          </a:prstGeom>
          <a:solidFill>
            <a:schemeClr val="accent1"/>
          </a:solidFill>
        </p:spPr>
        <p:txBody>
          <a:bodyPr/>
          <a:lstStyle/>
          <a:p>
            <a:endParaRPr/>
          </a:p>
        </p:txBody>
      </p:sp>
      <p:sp>
        <p:nvSpPr>
          <p:cNvPr id="12" name="Result 2">
            <a:extLst>
              <a:ext uri="{FF2B5EF4-FFF2-40B4-BE49-F238E27FC236}">
                <a16:creationId xmlns:a16="http://schemas.microsoft.com/office/drawing/2014/main" id="{9A9724D9-72C4-4DEF-A3A2-06E6B7FE8484}"/>
              </a:ext>
            </a:extLst>
          </p:cNvPr>
          <p:cNvSpPr>
            <a:spLocks noGrp="1"/>
          </p:cNvSpPr>
          <p:nvPr/>
        </p:nvSpPr>
        <p:spPr>
          <a:xfrm>
            <a:off x="5577840" y="2240280"/>
            <a:ext cx="3017520" cy="685800"/>
          </a:xfrm>
          <a:prstGeom prst="rect">
            <a:avLst/>
          </a:prstGeom>
          <a:noFill/>
        </p:spPr>
        <p:txBody>
          <a:bodyPr wrap="square" lIns="0" tIns="0" rIns="0" bIns="0" anchor="ctr"/>
          <a:lstStyle/>
          <a:p>
            <a:pPr marL="0" indent="0" algn="ctr">
              <a:buNone/>
            </a:pPr>
            <a:r>
              <a:rPr sz="1800" b="1">
                <a:solidFill>
                  <a:schemeClr val="bg1"/>
                </a:solidFill>
              </a:rPr>
              <a:t>Pregnancy counseling</a:t>
            </a:r>
            <a:endParaRPr sz="1800"/>
          </a:p>
        </p:txBody>
      </p:sp>
      <p:sp>
        <p:nvSpPr>
          <p:cNvPr id="13" name="Phrase 3 bubble">
            <a:extLst>
              <a:ext uri="{FF2B5EF4-FFF2-40B4-BE49-F238E27FC236}">
                <a16:creationId xmlns:a16="http://schemas.microsoft.com/office/drawing/2014/main" id="{5A188C17-C6B0-413F-AA9F-32DFC2D2FBBB}"/>
              </a:ext>
            </a:extLst>
          </p:cNvPr>
          <p:cNvSpPr>
            <a:spLocks noGrp="1"/>
          </p:cNvSpPr>
          <p:nvPr/>
        </p:nvSpPr>
        <p:spPr>
          <a:xfrm>
            <a:off x="548640" y="3108960"/>
            <a:ext cx="4297680" cy="685800"/>
          </a:xfrm>
          <a:prstGeom prst="roundRect">
            <a:avLst>
              <a:gd name="adj" fmla="val 26667"/>
            </a:avLst>
          </a:prstGeom>
          <a:solidFill>
            <a:schemeClr val="bg2"/>
          </a:solidFill>
        </p:spPr>
        <p:txBody>
          <a:bodyPr/>
          <a:lstStyle/>
          <a:p>
            <a:endParaRPr/>
          </a:p>
        </p:txBody>
      </p:sp>
      <p:sp>
        <p:nvSpPr>
          <p:cNvPr id="14" name="Phrase 3">
            <a:extLst>
              <a:ext uri="{FF2B5EF4-FFF2-40B4-BE49-F238E27FC236}">
                <a16:creationId xmlns:a16="http://schemas.microsoft.com/office/drawing/2014/main" id="{C2C0DC7B-BE42-4F13-B819-A81A7A125F1A}"/>
              </a:ext>
            </a:extLst>
          </p:cNvPr>
          <p:cNvSpPr>
            <a:spLocks noGrp="1"/>
          </p:cNvSpPr>
          <p:nvPr/>
        </p:nvSpPr>
        <p:spPr>
          <a:xfrm>
            <a:off x="777240" y="3108960"/>
            <a:ext cx="3931920" cy="685800"/>
          </a:xfrm>
          <a:prstGeom prst="rect">
            <a:avLst/>
          </a:prstGeom>
          <a:noFill/>
        </p:spPr>
        <p:txBody>
          <a:bodyPr wrap="square" lIns="0" tIns="0" rIns="0" bIns="0" anchor="ctr"/>
          <a:lstStyle/>
          <a:p>
            <a:pPr marL="0" indent="0">
              <a:buNone/>
            </a:pPr>
            <a:r>
              <a:rPr sz="1800" b="1" i="1" dirty="0">
                <a:solidFill>
                  <a:schemeClr val="tx1"/>
                </a:solidFill>
              </a:rPr>
              <a:t>“My dad </a:t>
            </a:r>
            <a:r>
              <a:rPr b="1" i="1" dirty="0"/>
              <a:t>needs everyday assistance and is care-dependent</a:t>
            </a:r>
            <a:r>
              <a:rPr sz="1800" b="1" i="1" dirty="0">
                <a:solidFill>
                  <a:schemeClr val="tx1"/>
                </a:solidFill>
              </a:rPr>
              <a:t>.”</a:t>
            </a:r>
            <a:endParaRPr sz="1800" dirty="0"/>
          </a:p>
        </p:txBody>
      </p:sp>
      <p:sp>
        <p:nvSpPr>
          <p:cNvPr id="15" name="Demo arrow 3">
            <a:extLst>
              <a:ext uri="{FF2B5EF4-FFF2-40B4-BE49-F238E27FC236}">
                <a16:creationId xmlns:a16="http://schemas.microsoft.com/office/drawing/2014/main" id="{59058757-11B6-4F82-8E74-19F8FC529E18}"/>
              </a:ext>
            </a:extLst>
          </p:cNvPr>
          <p:cNvSpPr>
            <a:spLocks noGrp="1"/>
          </p:cNvSpPr>
          <p:nvPr/>
        </p:nvSpPr>
        <p:spPr>
          <a:xfrm>
            <a:off x="4937760" y="3451860"/>
            <a:ext cx="548640" cy="0"/>
          </a:xfrm>
          <a:prstGeom prst="line">
            <a:avLst/>
          </a:prstGeom>
          <a:noFill/>
          <a:ln w="31750">
            <a:solidFill>
              <a:schemeClr val="accent4"/>
            </a:solidFill>
            <a:prstDash val="solid"/>
            <a:tailEnd type="triangle"/>
          </a:ln>
        </p:spPr>
        <p:txBody>
          <a:bodyPr/>
          <a:lstStyle/>
          <a:p>
            <a:endParaRPr/>
          </a:p>
        </p:txBody>
      </p:sp>
      <p:sp>
        <p:nvSpPr>
          <p:cNvPr id="16" name="Result 3 pill">
            <a:extLst>
              <a:ext uri="{FF2B5EF4-FFF2-40B4-BE49-F238E27FC236}">
                <a16:creationId xmlns:a16="http://schemas.microsoft.com/office/drawing/2014/main" id="{990C3BAD-C4CB-449F-BE9A-AF72BDF19A97}"/>
              </a:ext>
            </a:extLst>
          </p:cNvPr>
          <p:cNvSpPr>
            <a:spLocks noGrp="1"/>
          </p:cNvSpPr>
          <p:nvPr/>
        </p:nvSpPr>
        <p:spPr>
          <a:xfrm>
            <a:off x="5577840" y="3108960"/>
            <a:ext cx="3017520" cy="685800"/>
          </a:xfrm>
          <a:prstGeom prst="roundRect">
            <a:avLst>
              <a:gd name="adj" fmla="val 26667"/>
            </a:avLst>
          </a:prstGeom>
          <a:solidFill>
            <a:schemeClr val="accent1"/>
          </a:solidFill>
        </p:spPr>
        <p:txBody>
          <a:bodyPr/>
          <a:lstStyle/>
          <a:p>
            <a:endParaRPr/>
          </a:p>
        </p:txBody>
      </p:sp>
      <p:sp>
        <p:nvSpPr>
          <p:cNvPr id="17" name="Result 3">
            <a:extLst>
              <a:ext uri="{FF2B5EF4-FFF2-40B4-BE49-F238E27FC236}">
                <a16:creationId xmlns:a16="http://schemas.microsoft.com/office/drawing/2014/main" id="{A3305702-A600-4890-89B2-2FF2E018ABD7}"/>
              </a:ext>
            </a:extLst>
          </p:cNvPr>
          <p:cNvSpPr>
            <a:spLocks noGrp="1"/>
          </p:cNvSpPr>
          <p:nvPr/>
        </p:nvSpPr>
        <p:spPr>
          <a:xfrm>
            <a:off x="5577840" y="3108960"/>
            <a:ext cx="3017520" cy="685800"/>
          </a:xfrm>
          <a:prstGeom prst="rect">
            <a:avLst/>
          </a:prstGeom>
          <a:noFill/>
        </p:spPr>
        <p:txBody>
          <a:bodyPr wrap="square" lIns="0" tIns="0" rIns="0" bIns="0" anchor="ctr"/>
          <a:lstStyle/>
          <a:p>
            <a:pPr marL="0" indent="0" algn="ctr">
              <a:buNone/>
            </a:pPr>
            <a:r>
              <a:rPr sz="1800" b="1">
                <a:solidFill>
                  <a:schemeClr val="bg1"/>
                </a:solidFill>
              </a:rPr>
              <a:t>Care counseling</a:t>
            </a:r>
            <a:endParaRPr sz="1800"/>
          </a:p>
        </p:txBody>
      </p:sp>
      <p:sp>
        <p:nvSpPr>
          <p:cNvPr id="18" name="Call to audience">
            <a:extLst>
              <a:ext uri="{FF2B5EF4-FFF2-40B4-BE49-F238E27FC236}">
                <a16:creationId xmlns:a16="http://schemas.microsoft.com/office/drawing/2014/main" id="{9D875D7E-D03B-46C1-9140-6123BD9BE870}"/>
              </a:ext>
            </a:extLst>
          </p:cNvPr>
          <p:cNvSpPr>
            <a:spLocks noGrp="1"/>
          </p:cNvSpPr>
          <p:nvPr/>
        </p:nvSpPr>
        <p:spPr>
          <a:xfrm>
            <a:off x="548640" y="3931920"/>
            <a:ext cx="6400800" cy="411480"/>
          </a:xfrm>
          <a:prstGeom prst="rect">
            <a:avLst/>
          </a:prstGeom>
          <a:noFill/>
        </p:spPr>
        <p:txBody>
          <a:bodyPr wrap="square" lIns="0" tIns="0" rIns="0" bIns="0" anchor="ctr"/>
          <a:lstStyle/>
          <a:p>
            <a:pPr marL="0" indent="0">
              <a:buNone/>
            </a:pPr>
            <a:r>
              <a:rPr sz="2000" b="1">
                <a:solidFill>
                  <a:schemeClr val="accent1"/>
                </a:solidFill>
              </a:rPr>
              <a:t>Watch the search. Listen to the result. Try your own sentence.</a:t>
            </a:r>
            <a:endParaRPr sz="2000"/>
          </a:p>
        </p:txBody>
      </p:sp>
    </p:spTree>
    <p:extLst>
      <p:ext uri="{BB962C8B-B14F-4D97-AF65-F5344CB8AC3E}">
        <p14:creationId xmlns:p14="http://schemas.microsoft.com/office/powerpoint/2010/main" val="49606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779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5AADD7-81E6-4B20-9F27-83F2E6BF8410}"/>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Trust matters: what we learned</a:t>
            </a:r>
            <a:endParaRPr sz="3200"/>
          </a:p>
        </p:txBody>
      </p:sp>
      <p:sp>
        <p:nvSpPr>
          <p:cNvPr id="3" name="Column label fail">
            <a:extLst>
              <a:ext uri="{FF2B5EF4-FFF2-40B4-BE49-F238E27FC236}">
                <a16:creationId xmlns:a16="http://schemas.microsoft.com/office/drawing/2014/main" id="{C4B644FB-D3D8-4760-B79D-9583A2ED5FB1}"/>
              </a:ext>
            </a:extLst>
          </p:cNvPr>
          <p:cNvSpPr>
            <a:spLocks noGrp="1"/>
          </p:cNvSpPr>
          <p:nvPr/>
        </p:nvSpPr>
        <p:spPr>
          <a:xfrm>
            <a:off x="1508760" y="1188720"/>
            <a:ext cx="3566160" cy="274320"/>
          </a:xfrm>
          <a:prstGeom prst="rect">
            <a:avLst/>
          </a:prstGeom>
          <a:noFill/>
        </p:spPr>
        <p:txBody>
          <a:bodyPr wrap="square" lIns="0" tIns="0" rIns="0" bIns="0" anchor="ctr"/>
          <a:lstStyle/>
          <a:p>
            <a:pPr marL="0" indent="0">
              <a:buNone/>
            </a:pPr>
            <a:r>
              <a:rPr sz="1200" b="1">
                <a:solidFill>
                  <a:schemeClr val="accent4"/>
                </a:solidFill>
              </a:rPr>
              <a:t>RISK WE FOUND</a:t>
            </a:r>
            <a:endParaRPr sz="1200"/>
          </a:p>
        </p:txBody>
      </p:sp>
      <p:sp>
        <p:nvSpPr>
          <p:cNvPr id="4" name="Column label fix">
            <a:extLst>
              <a:ext uri="{FF2B5EF4-FFF2-40B4-BE49-F238E27FC236}">
                <a16:creationId xmlns:a16="http://schemas.microsoft.com/office/drawing/2014/main" id="{C12BEADB-6CFE-4E76-8C17-5FE3F147B763}"/>
              </a:ext>
            </a:extLst>
          </p:cNvPr>
          <p:cNvSpPr>
            <a:spLocks noGrp="1"/>
          </p:cNvSpPr>
          <p:nvPr/>
        </p:nvSpPr>
        <p:spPr>
          <a:xfrm>
            <a:off x="5623560" y="1188720"/>
            <a:ext cx="2834640" cy="274320"/>
          </a:xfrm>
          <a:prstGeom prst="rect">
            <a:avLst/>
          </a:prstGeom>
          <a:noFill/>
        </p:spPr>
        <p:txBody>
          <a:bodyPr wrap="square" lIns="0" tIns="0" rIns="0" bIns="0" anchor="ctr"/>
          <a:lstStyle/>
          <a:p>
            <a:pPr marL="0" indent="0">
              <a:buNone/>
            </a:pPr>
            <a:r>
              <a:rPr sz="1200" b="1">
                <a:solidFill>
                  <a:schemeClr val="accent4"/>
                </a:solidFill>
              </a:rPr>
              <a:t>SAFETY RESPONSE</a:t>
            </a:r>
            <a:endParaRPr sz="1200"/>
          </a:p>
        </p:txBody>
      </p:sp>
      <p:sp>
        <p:nvSpPr>
          <p:cNvPr id="5" name="Fail card 1">
            <a:extLst>
              <a:ext uri="{FF2B5EF4-FFF2-40B4-BE49-F238E27FC236}">
                <a16:creationId xmlns:a16="http://schemas.microsoft.com/office/drawing/2014/main" id="{0A89B1D9-0ABD-4677-B946-F37F772B9854}"/>
              </a:ext>
            </a:extLst>
          </p:cNvPr>
          <p:cNvSpPr>
            <a:spLocks noGrp="1"/>
          </p:cNvSpPr>
          <p:nvPr/>
        </p:nvSpPr>
        <p:spPr>
          <a:xfrm>
            <a:off x="548640" y="1508760"/>
            <a:ext cx="8046720" cy="731520"/>
          </a:xfrm>
          <a:prstGeom prst="roundRect">
            <a:avLst>
              <a:gd name="adj" fmla="val 15000"/>
            </a:avLst>
          </a:prstGeom>
          <a:solidFill>
            <a:schemeClr val="bg2"/>
          </a:solidFill>
        </p:spPr>
        <p:txBody>
          <a:bodyPr/>
          <a:lstStyle/>
          <a:p>
            <a:endParaRPr/>
          </a:p>
        </p:txBody>
      </p:sp>
      <p:sp>
        <p:nvSpPr>
          <p:cNvPr id="6" name="Bug 1 circle">
            <a:extLst>
              <a:ext uri="{FF2B5EF4-FFF2-40B4-BE49-F238E27FC236}">
                <a16:creationId xmlns:a16="http://schemas.microsoft.com/office/drawing/2014/main" id="{72A62FD6-601C-447B-9C66-E380D0695E61}"/>
              </a:ext>
            </a:extLst>
          </p:cNvPr>
          <p:cNvSpPr>
            <a:spLocks noGrp="1"/>
          </p:cNvSpPr>
          <p:nvPr/>
        </p:nvSpPr>
        <p:spPr>
          <a:xfrm>
            <a:off x="777240" y="1600200"/>
            <a:ext cx="548640" cy="548640"/>
          </a:xfrm>
          <a:prstGeom prst="ellipse">
            <a:avLst/>
          </a:prstGeom>
          <a:solidFill>
            <a:schemeClr val="accent1"/>
          </a:solidFill>
        </p:spPr>
        <p:txBody>
          <a:bodyPr/>
          <a:lstStyle/>
          <a:p>
            <a:endParaRPr/>
          </a:p>
        </p:txBody>
      </p:sp>
      <p:pic>
        <p:nvPicPr>
          <p:cNvPr id="7" name="Bug 1 icon">
            <a:extLst>
              <a:ext uri="{FF2B5EF4-FFF2-40B4-BE49-F238E27FC236}">
                <a16:creationId xmlns:a16="http://schemas.microsoft.com/office/drawing/2014/main" id="{46BB1201-47BA-42B7-B2E8-D15DBE0106E3}"/>
              </a:ext>
            </a:extLst>
          </p:cNvPr>
          <p:cNvPicPr>
            <a:picLocks noChangeAspect="1"/>
          </p:cNvPicPr>
          <p:nvPr/>
        </p:nvPicPr>
        <p:blipFill>
          <a:blip r:embed="rId3"/>
          <a:stretch>
            <a:fillRect/>
          </a:stretch>
        </p:blipFill>
        <p:spPr>
          <a:xfrm>
            <a:off x="925373" y="1748333"/>
            <a:ext cx="252374" cy="252374"/>
          </a:xfrm>
          <a:prstGeom prst="rect">
            <a:avLst/>
          </a:prstGeom>
        </p:spPr>
      </p:pic>
      <p:sp>
        <p:nvSpPr>
          <p:cNvPr id="8" name="Fail 1">
            <a:extLst>
              <a:ext uri="{FF2B5EF4-FFF2-40B4-BE49-F238E27FC236}">
                <a16:creationId xmlns:a16="http://schemas.microsoft.com/office/drawing/2014/main" id="{2FE60F39-D98B-479E-8632-08DD2B290E69}"/>
              </a:ext>
            </a:extLst>
          </p:cNvPr>
          <p:cNvSpPr>
            <a:spLocks noGrp="1"/>
          </p:cNvSpPr>
          <p:nvPr/>
        </p:nvSpPr>
        <p:spPr>
          <a:xfrm>
            <a:off x="1508760" y="1508760"/>
            <a:ext cx="3383280" cy="731520"/>
          </a:xfrm>
          <a:prstGeom prst="rect">
            <a:avLst/>
          </a:prstGeom>
          <a:noFill/>
        </p:spPr>
        <p:txBody>
          <a:bodyPr wrap="square" lIns="0" tIns="0" rIns="0" bIns="0" anchor="ctr"/>
          <a:lstStyle/>
          <a:p>
            <a:pPr marL="0" indent="0">
              <a:buNone/>
            </a:pPr>
            <a:r>
              <a:rPr sz="1400" dirty="0">
                <a:solidFill>
                  <a:schemeClr val="tx1"/>
                </a:solidFill>
              </a:rPr>
              <a:t>A wrong phone number could </a:t>
            </a:r>
            <a:r>
              <a:rPr lang="de-DE" sz="1400" dirty="0" err="1"/>
              <a:t>lead</a:t>
            </a:r>
            <a:r>
              <a:rPr lang="de-DE" sz="1400" dirty="0"/>
              <a:t> to a longer </a:t>
            </a:r>
            <a:r>
              <a:rPr lang="de-DE" sz="1400" dirty="0" err="1"/>
              <a:t>waiting</a:t>
            </a:r>
            <a:r>
              <a:rPr lang="de-DE" sz="1400" dirty="0"/>
              <a:t> time</a:t>
            </a:r>
            <a:r>
              <a:rPr sz="1400" dirty="0">
                <a:solidFill>
                  <a:schemeClr val="tx1"/>
                </a:solidFill>
              </a:rPr>
              <a:t>.</a:t>
            </a:r>
            <a:endParaRPr sz="1400" dirty="0"/>
          </a:p>
        </p:txBody>
      </p:sp>
      <p:sp>
        <p:nvSpPr>
          <p:cNvPr id="9" name="Fix arrow 1">
            <a:extLst>
              <a:ext uri="{FF2B5EF4-FFF2-40B4-BE49-F238E27FC236}">
                <a16:creationId xmlns:a16="http://schemas.microsoft.com/office/drawing/2014/main" id="{26E87AF5-9609-4255-A8CE-AF4A37D1597B}"/>
              </a:ext>
            </a:extLst>
          </p:cNvPr>
          <p:cNvSpPr>
            <a:spLocks noGrp="1"/>
          </p:cNvSpPr>
          <p:nvPr/>
        </p:nvSpPr>
        <p:spPr>
          <a:xfrm>
            <a:off x="5029200" y="1874520"/>
            <a:ext cx="457200" cy="0"/>
          </a:xfrm>
          <a:prstGeom prst="line">
            <a:avLst/>
          </a:prstGeom>
          <a:noFill/>
          <a:ln w="25400">
            <a:solidFill>
              <a:schemeClr val="accent4"/>
            </a:solidFill>
            <a:prstDash val="solid"/>
            <a:tailEnd type="triangle"/>
          </a:ln>
        </p:spPr>
        <p:txBody>
          <a:bodyPr/>
          <a:lstStyle/>
          <a:p>
            <a:endParaRPr/>
          </a:p>
        </p:txBody>
      </p:sp>
      <p:sp>
        <p:nvSpPr>
          <p:cNvPr id="10" name="Fix 1">
            <a:extLst>
              <a:ext uri="{FF2B5EF4-FFF2-40B4-BE49-F238E27FC236}">
                <a16:creationId xmlns:a16="http://schemas.microsoft.com/office/drawing/2014/main" id="{54F1727B-5505-481C-A03C-F0FED0139761}"/>
              </a:ext>
            </a:extLst>
          </p:cNvPr>
          <p:cNvSpPr>
            <a:spLocks noGrp="1"/>
          </p:cNvSpPr>
          <p:nvPr/>
        </p:nvSpPr>
        <p:spPr>
          <a:xfrm>
            <a:off x="5623560" y="1508760"/>
            <a:ext cx="2834640" cy="731520"/>
          </a:xfrm>
          <a:prstGeom prst="rect">
            <a:avLst/>
          </a:prstGeom>
          <a:noFill/>
        </p:spPr>
        <p:txBody>
          <a:bodyPr wrap="square" lIns="0" tIns="0" rIns="0" bIns="0" anchor="ctr"/>
          <a:lstStyle/>
          <a:p>
            <a:pPr marL="0" indent="0">
              <a:buNone/>
            </a:pPr>
            <a:r>
              <a:rPr sz="1400" b="1" dirty="0">
                <a:solidFill>
                  <a:schemeClr val="accent2"/>
                </a:solidFill>
              </a:rPr>
              <a:t>Contact details are taken from records.</a:t>
            </a:r>
            <a:endParaRPr sz="1400" dirty="0"/>
          </a:p>
        </p:txBody>
      </p:sp>
      <p:sp>
        <p:nvSpPr>
          <p:cNvPr id="11" name="Fail card 2">
            <a:extLst>
              <a:ext uri="{FF2B5EF4-FFF2-40B4-BE49-F238E27FC236}">
                <a16:creationId xmlns:a16="http://schemas.microsoft.com/office/drawing/2014/main" id="{7EAEE20D-FCBB-4071-AD41-556C76FF59BE}"/>
              </a:ext>
            </a:extLst>
          </p:cNvPr>
          <p:cNvSpPr>
            <a:spLocks noGrp="1"/>
          </p:cNvSpPr>
          <p:nvPr/>
        </p:nvSpPr>
        <p:spPr>
          <a:xfrm>
            <a:off x="548640" y="2377440"/>
            <a:ext cx="8046720" cy="731520"/>
          </a:xfrm>
          <a:prstGeom prst="roundRect">
            <a:avLst>
              <a:gd name="adj" fmla="val 15000"/>
            </a:avLst>
          </a:prstGeom>
          <a:solidFill>
            <a:schemeClr val="bg2"/>
          </a:solidFill>
        </p:spPr>
        <p:txBody>
          <a:bodyPr/>
          <a:lstStyle/>
          <a:p>
            <a:endParaRPr/>
          </a:p>
        </p:txBody>
      </p:sp>
      <p:sp>
        <p:nvSpPr>
          <p:cNvPr id="12" name="Bug 2 circle">
            <a:extLst>
              <a:ext uri="{FF2B5EF4-FFF2-40B4-BE49-F238E27FC236}">
                <a16:creationId xmlns:a16="http://schemas.microsoft.com/office/drawing/2014/main" id="{88028C02-825B-472E-AFC1-B085167D2528}"/>
              </a:ext>
            </a:extLst>
          </p:cNvPr>
          <p:cNvSpPr>
            <a:spLocks noGrp="1"/>
          </p:cNvSpPr>
          <p:nvPr/>
        </p:nvSpPr>
        <p:spPr>
          <a:xfrm>
            <a:off x="777240" y="2468880"/>
            <a:ext cx="548640" cy="548640"/>
          </a:xfrm>
          <a:prstGeom prst="ellipse">
            <a:avLst/>
          </a:prstGeom>
          <a:solidFill>
            <a:schemeClr val="accent1"/>
          </a:solidFill>
        </p:spPr>
        <p:txBody>
          <a:bodyPr/>
          <a:lstStyle/>
          <a:p>
            <a:endParaRPr/>
          </a:p>
        </p:txBody>
      </p:sp>
      <p:pic>
        <p:nvPicPr>
          <p:cNvPr id="13" name="Bug 2 icon">
            <a:extLst>
              <a:ext uri="{FF2B5EF4-FFF2-40B4-BE49-F238E27FC236}">
                <a16:creationId xmlns:a16="http://schemas.microsoft.com/office/drawing/2014/main" id="{F066B1EA-7013-41DC-ABFB-E358444AB273}"/>
              </a:ext>
            </a:extLst>
          </p:cNvPr>
          <p:cNvPicPr>
            <a:picLocks noChangeAspect="1"/>
          </p:cNvPicPr>
          <p:nvPr/>
        </p:nvPicPr>
        <p:blipFill>
          <a:blip r:embed="rId3"/>
          <a:stretch>
            <a:fillRect/>
          </a:stretch>
        </p:blipFill>
        <p:spPr>
          <a:xfrm>
            <a:off x="925373" y="2617013"/>
            <a:ext cx="252374" cy="252374"/>
          </a:xfrm>
          <a:prstGeom prst="rect">
            <a:avLst/>
          </a:prstGeom>
        </p:spPr>
      </p:pic>
      <p:sp>
        <p:nvSpPr>
          <p:cNvPr id="14" name="Fail 2">
            <a:extLst>
              <a:ext uri="{FF2B5EF4-FFF2-40B4-BE49-F238E27FC236}">
                <a16:creationId xmlns:a16="http://schemas.microsoft.com/office/drawing/2014/main" id="{E477E790-6A34-40A6-AD0F-43D61D53F492}"/>
              </a:ext>
            </a:extLst>
          </p:cNvPr>
          <p:cNvSpPr>
            <a:spLocks noGrp="1"/>
          </p:cNvSpPr>
          <p:nvPr/>
        </p:nvSpPr>
        <p:spPr>
          <a:xfrm>
            <a:off x="1508760" y="2377440"/>
            <a:ext cx="3383280" cy="731520"/>
          </a:xfrm>
          <a:prstGeom prst="rect">
            <a:avLst/>
          </a:prstGeom>
          <a:noFill/>
        </p:spPr>
        <p:txBody>
          <a:bodyPr wrap="square" lIns="0" tIns="0" rIns="0" bIns="0" anchor="ctr"/>
          <a:lstStyle/>
          <a:p>
            <a:pPr marL="0" indent="0">
              <a:buNone/>
            </a:pPr>
            <a:r>
              <a:rPr sz="1400" dirty="0">
                <a:solidFill>
                  <a:schemeClr val="tx1"/>
                </a:solidFill>
              </a:rPr>
              <a:t>Speech recognition can misunderstand a place name</a:t>
            </a:r>
            <a:r>
              <a:rPr lang="de-DE" sz="1400" dirty="0">
                <a:solidFill>
                  <a:schemeClr val="tx1"/>
                </a:solidFill>
              </a:rPr>
              <a:t> (due to the </a:t>
            </a:r>
            <a:r>
              <a:rPr lang="de-DE" sz="1400" dirty="0" err="1">
                <a:solidFill>
                  <a:schemeClr val="tx1"/>
                </a:solidFill>
              </a:rPr>
              <a:t>beta</a:t>
            </a:r>
            <a:r>
              <a:rPr lang="de-DE" sz="1400" dirty="0">
                <a:solidFill>
                  <a:schemeClr val="tx1"/>
                </a:solidFill>
              </a:rPr>
              <a:t> </a:t>
            </a:r>
            <a:r>
              <a:rPr lang="de-DE" sz="1400" dirty="0" err="1">
                <a:solidFill>
                  <a:schemeClr val="tx1"/>
                </a:solidFill>
              </a:rPr>
              <a:t>version</a:t>
            </a:r>
            <a:r>
              <a:rPr lang="de-DE" sz="1400" dirty="0">
                <a:solidFill>
                  <a:schemeClr val="tx1"/>
                </a:solidFill>
              </a:rPr>
              <a:t>)</a:t>
            </a:r>
            <a:r>
              <a:rPr sz="1400" dirty="0">
                <a:solidFill>
                  <a:schemeClr val="tx1"/>
                </a:solidFill>
              </a:rPr>
              <a:t>.</a:t>
            </a:r>
            <a:endParaRPr sz="1400" dirty="0"/>
          </a:p>
        </p:txBody>
      </p:sp>
      <p:sp>
        <p:nvSpPr>
          <p:cNvPr id="15" name="Fix arrow 2">
            <a:extLst>
              <a:ext uri="{FF2B5EF4-FFF2-40B4-BE49-F238E27FC236}">
                <a16:creationId xmlns:a16="http://schemas.microsoft.com/office/drawing/2014/main" id="{AC8934A4-3F2C-4E2E-BF2D-341207047709}"/>
              </a:ext>
            </a:extLst>
          </p:cNvPr>
          <p:cNvSpPr>
            <a:spLocks noGrp="1"/>
          </p:cNvSpPr>
          <p:nvPr/>
        </p:nvSpPr>
        <p:spPr>
          <a:xfrm>
            <a:off x="5029200" y="2743200"/>
            <a:ext cx="457200" cy="0"/>
          </a:xfrm>
          <a:prstGeom prst="line">
            <a:avLst/>
          </a:prstGeom>
          <a:noFill/>
          <a:ln w="25400">
            <a:solidFill>
              <a:schemeClr val="accent4"/>
            </a:solidFill>
            <a:prstDash val="solid"/>
            <a:tailEnd type="triangle"/>
          </a:ln>
        </p:spPr>
        <p:txBody>
          <a:bodyPr/>
          <a:lstStyle/>
          <a:p>
            <a:endParaRPr/>
          </a:p>
        </p:txBody>
      </p:sp>
      <p:sp>
        <p:nvSpPr>
          <p:cNvPr id="16" name="Fix 2">
            <a:extLst>
              <a:ext uri="{FF2B5EF4-FFF2-40B4-BE49-F238E27FC236}">
                <a16:creationId xmlns:a16="http://schemas.microsoft.com/office/drawing/2014/main" id="{7F166AD5-47D8-407D-B4DB-418A30589BD3}"/>
              </a:ext>
            </a:extLst>
          </p:cNvPr>
          <p:cNvSpPr>
            <a:spLocks noGrp="1"/>
          </p:cNvSpPr>
          <p:nvPr/>
        </p:nvSpPr>
        <p:spPr>
          <a:xfrm>
            <a:off x="5623560" y="2377440"/>
            <a:ext cx="2834640" cy="731520"/>
          </a:xfrm>
          <a:prstGeom prst="rect">
            <a:avLst/>
          </a:prstGeom>
          <a:noFill/>
        </p:spPr>
        <p:txBody>
          <a:bodyPr wrap="square" lIns="0" tIns="0" rIns="0" bIns="0" anchor="ctr"/>
          <a:lstStyle/>
          <a:p>
            <a:pPr marL="0" indent="0">
              <a:buNone/>
            </a:pPr>
            <a:r>
              <a:rPr sz="1400" b="1">
                <a:solidFill>
                  <a:schemeClr val="accent2"/>
                </a:solidFill>
              </a:rPr>
              <a:t>Ask for confirmation when a location is unclear.</a:t>
            </a:r>
            <a:endParaRPr sz="1400"/>
          </a:p>
        </p:txBody>
      </p:sp>
      <p:sp>
        <p:nvSpPr>
          <p:cNvPr id="17" name="Fail card 3">
            <a:extLst>
              <a:ext uri="{FF2B5EF4-FFF2-40B4-BE49-F238E27FC236}">
                <a16:creationId xmlns:a16="http://schemas.microsoft.com/office/drawing/2014/main" id="{1966584D-4244-4FAB-8CBF-6605099AFC21}"/>
              </a:ext>
            </a:extLst>
          </p:cNvPr>
          <p:cNvSpPr>
            <a:spLocks noGrp="1"/>
          </p:cNvSpPr>
          <p:nvPr/>
        </p:nvSpPr>
        <p:spPr>
          <a:xfrm>
            <a:off x="548640" y="3246120"/>
            <a:ext cx="8046720" cy="731520"/>
          </a:xfrm>
          <a:prstGeom prst="roundRect">
            <a:avLst>
              <a:gd name="adj" fmla="val 15000"/>
            </a:avLst>
          </a:prstGeom>
          <a:solidFill>
            <a:schemeClr val="bg2"/>
          </a:solidFill>
        </p:spPr>
        <p:txBody>
          <a:bodyPr/>
          <a:lstStyle/>
          <a:p>
            <a:endParaRPr/>
          </a:p>
        </p:txBody>
      </p:sp>
      <p:sp>
        <p:nvSpPr>
          <p:cNvPr id="18" name="Bug 3 circle">
            <a:extLst>
              <a:ext uri="{FF2B5EF4-FFF2-40B4-BE49-F238E27FC236}">
                <a16:creationId xmlns:a16="http://schemas.microsoft.com/office/drawing/2014/main" id="{2E72F9AE-C698-4389-9A1F-2F66D7FC7AA4}"/>
              </a:ext>
            </a:extLst>
          </p:cNvPr>
          <p:cNvSpPr>
            <a:spLocks noGrp="1"/>
          </p:cNvSpPr>
          <p:nvPr/>
        </p:nvSpPr>
        <p:spPr>
          <a:xfrm>
            <a:off x="777240" y="3337560"/>
            <a:ext cx="548640" cy="548640"/>
          </a:xfrm>
          <a:prstGeom prst="ellipse">
            <a:avLst/>
          </a:prstGeom>
          <a:solidFill>
            <a:schemeClr val="accent1"/>
          </a:solidFill>
        </p:spPr>
        <p:txBody>
          <a:bodyPr/>
          <a:lstStyle/>
          <a:p>
            <a:endParaRPr/>
          </a:p>
        </p:txBody>
      </p:sp>
      <p:pic>
        <p:nvPicPr>
          <p:cNvPr id="19" name="Bug 3 icon">
            <a:extLst>
              <a:ext uri="{FF2B5EF4-FFF2-40B4-BE49-F238E27FC236}">
                <a16:creationId xmlns:a16="http://schemas.microsoft.com/office/drawing/2014/main" id="{69C3A995-8B65-476D-9859-1A2C10FA9089}"/>
              </a:ext>
            </a:extLst>
          </p:cNvPr>
          <p:cNvPicPr>
            <a:picLocks noChangeAspect="1"/>
          </p:cNvPicPr>
          <p:nvPr/>
        </p:nvPicPr>
        <p:blipFill>
          <a:blip r:embed="rId3"/>
          <a:stretch>
            <a:fillRect/>
          </a:stretch>
        </p:blipFill>
        <p:spPr>
          <a:xfrm>
            <a:off x="925373" y="3485693"/>
            <a:ext cx="252374" cy="252374"/>
          </a:xfrm>
          <a:prstGeom prst="rect">
            <a:avLst/>
          </a:prstGeom>
        </p:spPr>
      </p:pic>
      <p:sp>
        <p:nvSpPr>
          <p:cNvPr id="20" name="Fail 3">
            <a:extLst>
              <a:ext uri="{FF2B5EF4-FFF2-40B4-BE49-F238E27FC236}">
                <a16:creationId xmlns:a16="http://schemas.microsoft.com/office/drawing/2014/main" id="{DEE58A8E-D2DF-4DA1-A077-874F07354E42}"/>
              </a:ext>
            </a:extLst>
          </p:cNvPr>
          <p:cNvSpPr>
            <a:spLocks noGrp="1"/>
          </p:cNvSpPr>
          <p:nvPr/>
        </p:nvSpPr>
        <p:spPr>
          <a:xfrm>
            <a:off x="1508760" y="3246120"/>
            <a:ext cx="3383280" cy="731520"/>
          </a:xfrm>
          <a:prstGeom prst="rect">
            <a:avLst/>
          </a:prstGeom>
          <a:noFill/>
        </p:spPr>
        <p:txBody>
          <a:bodyPr wrap="square" lIns="0" tIns="0" rIns="0" bIns="0" anchor="ctr"/>
          <a:lstStyle/>
          <a:p>
            <a:pPr marL="0" indent="0">
              <a:buNone/>
            </a:pPr>
            <a:r>
              <a:rPr sz="1400" dirty="0">
                <a:solidFill>
                  <a:schemeClr val="tx1"/>
                </a:solidFill>
              </a:rPr>
              <a:t>A crisis needs an</a:t>
            </a:r>
            <a:r>
              <a:rPr lang="de-DE" sz="1400" dirty="0">
                <a:solidFill>
                  <a:schemeClr val="tx1"/>
                </a:solidFill>
              </a:rPr>
              <a:t> </a:t>
            </a:r>
            <a:r>
              <a:rPr lang="de-DE" sz="1400" dirty="0" err="1">
                <a:solidFill>
                  <a:schemeClr val="tx1"/>
                </a:solidFill>
              </a:rPr>
              <a:t>correct</a:t>
            </a:r>
            <a:r>
              <a:rPr lang="de-DE" sz="1400" dirty="0">
                <a:solidFill>
                  <a:schemeClr val="tx1"/>
                </a:solidFill>
              </a:rPr>
              <a:t> </a:t>
            </a:r>
            <a:r>
              <a:rPr lang="de-DE" sz="1400" dirty="0" err="1">
                <a:solidFill>
                  <a:schemeClr val="tx1"/>
                </a:solidFill>
              </a:rPr>
              <a:t>direction</a:t>
            </a:r>
            <a:r>
              <a:rPr lang="de-DE" sz="1400" dirty="0">
                <a:solidFill>
                  <a:schemeClr val="tx1"/>
                </a:solidFill>
              </a:rPr>
              <a:t> not longer </a:t>
            </a:r>
            <a:r>
              <a:rPr lang="de-DE" sz="1400" dirty="0" err="1">
                <a:solidFill>
                  <a:schemeClr val="tx1"/>
                </a:solidFill>
              </a:rPr>
              <a:t>waiting</a:t>
            </a:r>
            <a:r>
              <a:rPr lang="de-DE" sz="1400" dirty="0">
                <a:solidFill>
                  <a:schemeClr val="tx1"/>
                </a:solidFill>
              </a:rPr>
              <a:t> </a:t>
            </a:r>
            <a:r>
              <a:rPr lang="de-DE" sz="1400" dirty="0" err="1">
                <a:solidFill>
                  <a:schemeClr val="tx1"/>
                </a:solidFill>
              </a:rPr>
              <a:t>times</a:t>
            </a:r>
            <a:r>
              <a:rPr lang="de-DE" sz="1400" dirty="0">
                <a:solidFill>
                  <a:schemeClr val="tx1"/>
                </a:solidFill>
              </a:rPr>
              <a:t>.</a:t>
            </a:r>
          </a:p>
        </p:txBody>
      </p:sp>
      <p:sp>
        <p:nvSpPr>
          <p:cNvPr id="21" name="Fix arrow 3">
            <a:extLst>
              <a:ext uri="{FF2B5EF4-FFF2-40B4-BE49-F238E27FC236}">
                <a16:creationId xmlns:a16="http://schemas.microsoft.com/office/drawing/2014/main" id="{BEF3312E-8721-4A10-BA1E-8D71FF1846A1}"/>
              </a:ext>
            </a:extLst>
          </p:cNvPr>
          <p:cNvSpPr>
            <a:spLocks noGrp="1"/>
          </p:cNvSpPr>
          <p:nvPr/>
        </p:nvSpPr>
        <p:spPr>
          <a:xfrm>
            <a:off x="5029200" y="3611880"/>
            <a:ext cx="457200" cy="0"/>
          </a:xfrm>
          <a:prstGeom prst="line">
            <a:avLst/>
          </a:prstGeom>
          <a:noFill/>
          <a:ln w="25400">
            <a:solidFill>
              <a:schemeClr val="accent4"/>
            </a:solidFill>
            <a:prstDash val="solid"/>
            <a:tailEnd type="triangle"/>
          </a:ln>
        </p:spPr>
        <p:txBody>
          <a:bodyPr/>
          <a:lstStyle/>
          <a:p>
            <a:endParaRPr/>
          </a:p>
        </p:txBody>
      </p:sp>
      <p:sp>
        <p:nvSpPr>
          <p:cNvPr id="22" name="Fix 3">
            <a:extLst>
              <a:ext uri="{FF2B5EF4-FFF2-40B4-BE49-F238E27FC236}">
                <a16:creationId xmlns:a16="http://schemas.microsoft.com/office/drawing/2014/main" id="{7FD45611-CE58-4E57-ABF8-7711FCD6F67D}"/>
              </a:ext>
            </a:extLst>
          </p:cNvPr>
          <p:cNvSpPr>
            <a:spLocks noGrp="1"/>
          </p:cNvSpPr>
          <p:nvPr/>
        </p:nvSpPr>
        <p:spPr>
          <a:xfrm>
            <a:off x="5623560" y="3246120"/>
            <a:ext cx="2834640" cy="731520"/>
          </a:xfrm>
          <a:prstGeom prst="rect">
            <a:avLst/>
          </a:prstGeom>
          <a:noFill/>
        </p:spPr>
        <p:txBody>
          <a:bodyPr wrap="square" lIns="0" tIns="0" rIns="0" bIns="0" anchor="ctr"/>
          <a:lstStyle/>
          <a:p>
            <a:pPr marL="0" indent="0">
              <a:buNone/>
            </a:pPr>
            <a:r>
              <a:rPr sz="1400" b="1" dirty="0">
                <a:solidFill>
                  <a:schemeClr val="accent2"/>
                </a:solidFill>
              </a:rPr>
              <a:t>Crisis wording triggers emergency guidance (112).</a:t>
            </a:r>
            <a:endParaRPr sz="1400" dirty="0"/>
          </a:p>
        </p:txBody>
      </p:sp>
    </p:spTree>
    <p:extLst>
      <p:ext uri="{BB962C8B-B14F-4D97-AF65-F5344CB8AC3E}">
        <p14:creationId xmlns:p14="http://schemas.microsoft.com/office/powerpoint/2010/main" val="84942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BA3DA58-214E-4D4A-8069-64966DC9772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dirty="0">
                <a:solidFill>
                  <a:schemeClr val="bg1"/>
                </a:solidFill>
              </a:rPr>
              <a:t>From 47 tabs to one clear next step</a:t>
            </a:r>
            <a:endParaRPr sz="3200" dirty="0"/>
          </a:p>
        </p:txBody>
      </p:sp>
      <p:sp>
        <p:nvSpPr>
          <p:cNvPr id="3" name="Next label">
            <a:extLst>
              <a:ext uri="{FF2B5EF4-FFF2-40B4-BE49-F238E27FC236}">
                <a16:creationId xmlns:a16="http://schemas.microsoft.com/office/drawing/2014/main" id="{DE7D68FE-1E2E-4B3B-A9E9-3096D0AD25D4}"/>
              </a:ext>
            </a:extLst>
          </p:cNvPr>
          <p:cNvSpPr>
            <a:spLocks noGrp="1"/>
          </p:cNvSpPr>
          <p:nvPr/>
        </p:nvSpPr>
        <p:spPr>
          <a:xfrm>
            <a:off x="548640" y="1280160"/>
            <a:ext cx="8046720" cy="274320"/>
          </a:xfrm>
          <a:prstGeom prst="rect">
            <a:avLst/>
          </a:prstGeom>
          <a:noFill/>
        </p:spPr>
        <p:txBody>
          <a:bodyPr wrap="square" lIns="0" tIns="0" rIns="0" bIns="0" anchor="ctr"/>
          <a:lstStyle/>
          <a:p>
            <a:pPr marL="0" indent="0">
              <a:buNone/>
            </a:pPr>
            <a:r>
              <a:rPr sz="2000" b="1">
                <a:solidFill>
                  <a:schemeClr val="accent3"/>
                </a:solidFill>
              </a:rPr>
              <a:t>OUR NEXT STEP</a:t>
            </a:r>
            <a:endParaRPr sz="2000"/>
          </a:p>
        </p:txBody>
      </p:sp>
      <p:sp>
        <p:nvSpPr>
          <p:cNvPr id="4" name="Regions card">
            <a:extLst>
              <a:ext uri="{FF2B5EF4-FFF2-40B4-BE49-F238E27FC236}">
                <a16:creationId xmlns:a16="http://schemas.microsoft.com/office/drawing/2014/main" id="{80DA27D1-8932-48B5-8866-5E26D171ADC4}"/>
              </a:ext>
            </a:extLst>
          </p:cNvPr>
          <p:cNvSpPr>
            <a:spLocks noGrp="1"/>
          </p:cNvSpPr>
          <p:nvPr/>
        </p:nvSpPr>
        <p:spPr>
          <a:xfrm>
            <a:off x="457200" y="1691640"/>
            <a:ext cx="2560320" cy="2103120"/>
          </a:xfrm>
          <a:prstGeom prst="roundRect">
            <a:avLst>
              <a:gd name="adj" fmla="val 6522"/>
            </a:avLst>
          </a:prstGeom>
          <a:solidFill>
            <a:schemeClr val="accent2"/>
          </a:solidFill>
        </p:spPr>
        <p:txBody>
          <a:bodyPr/>
          <a:lstStyle/>
          <a:p>
            <a:endParaRPr/>
          </a:p>
        </p:txBody>
      </p:sp>
      <p:sp>
        <p:nvSpPr>
          <p:cNvPr id="5" name="Regions circle">
            <a:extLst>
              <a:ext uri="{FF2B5EF4-FFF2-40B4-BE49-F238E27FC236}">
                <a16:creationId xmlns:a16="http://schemas.microsoft.com/office/drawing/2014/main" id="{960A7044-465B-4F62-942B-8C21F0A5C6F9}"/>
              </a:ext>
            </a:extLst>
          </p:cNvPr>
          <p:cNvSpPr>
            <a:spLocks noGrp="1"/>
          </p:cNvSpPr>
          <p:nvPr/>
        </p:nvSpPr>
        <p:spPr>
          <a:xfrm>
            <a:off x="731520" y="1874520"/>
            <a:ext cx="640080" cy="640080"/>
          </a:xfrm>
          <a:prstGeom prst="ellipse">
            <a:avLst/>
          </a:prstGeom>
          <a:solidFill>
            <a:schemeClr val="bg1"/>
          </a:solidFill>
        </p:spPr>
        <p:txBody>
          <a:bodyPr/>
          <a:lstStyle/>
          <a:p>
            <a:endParaRPr/>
          </a:p>
        </p:txBody>
      </p:sp>
      <p:pic>
        <p:nvPicPr>
          <p:cNvPr id="6" name="Regions icon">
            <a:extLst>
              <a:ext uri="{FF2B5EF4-FFF2-40B4-BE49-F238E27FC236}">
                <a16:creationId xmlns:a16="http://schemas.microsoft.com/office/drawing/2014/main" id="{81CDE4A3-6853-49A8-8385-09A48E2F92AB}"/>
              </a:ext>
            </a:extLst>
          </p:cNvPr>
          <p:cNvPicPr>
            <a:picLocks noChangeAspect="1"/>
          </p:cNvPicPr>
          <p:nvPr/>
        </p:nvPicPr>
        <p:blipFill>
          <a:blip r:embed="rId3"/>
          <a:stretch>
            <a:fillRect/>
          </a:stretch>
        </p:blipFill>
        <p:spPr>
          <a:xfrm>
            <a:off x="904342" y="2047342"/>
            <a:ext cx="294437" cy="294437"/>
          </a:xfrm>
          <a:prstGeom prst="rect">
            <a:avLst/>
          </a:prstGeom>
        </p:spPr>
      </p:pic>
      <p:sp>
        <p:nvSpPr>
          <p:cNvPr id="7" name="Regions heading">
            <a:extLst>
              <a:ext uri="{FF2B5EF4-FFF2-40B4-BE49-F238E27FC236}">
                <a16:creationId xmlns:a16="http://schemas.microsoft.com/office/drawing/2014/main" id="{6FB9304A-63B3-43AC-A759-2418D2CF781A}"/>
              </a:ext>
            </a:extLst>
          </p:cNvPr>
          <p:cNvSpPr>
            <a:spLocks noGrp="1"/>
          </p:cNvSpPr>
          <p:nvPr/>
        </p:nvSpPr>
        <p:spPr>
          <a:xfrm>
            <a:off x="731520" y="2651760"/>
            <a:ext cx="2103120" cy="365760"/>
          </a:xfrm>
          <a:prstGeom prst="rect">
            <a:avLst/>
          </a:prstGeom>
          <a:noFill/>
        </p:spPr>
        <p:txBody>
          <a:bodyPr wrap="square" lIns="0" tIns="0" rIns="0" bIns="0" anchor="ctr"/>
          <a:lstStyle/>
          <a:p>
            <a:pPr marL="0" indent="0">
              <a:buNone/>
            </a:pPr>
            <a:r>
              <a:rPr lang="de-DE" sz="1800" b="1" dirty="0">
                <a:solidFill>
                  <a:schemeClr val="bg1"/>
                </a:solidFill>
              </a:rPr>
              <a:t>Make it </a:t>
            </a:r>
            <a:r>
              <a:rPr lang="de-DE" sz="1800" b="1" dirty="0" err="1">
                <a:solidFill>
                  <a:schemeClr val="bg1"/>
                </a:solidFill>
              </a:rPr>
              <a:t>cost</a:t>
            </a:r>
            <a:r>
              <a:rPr lang="de-DE" b="1" dirty="0">
                <a:solidFill>
                  <a:schemeClr val="bg1"/>
                </a:solidFill>
              </a:rPr>
              <a:t>-efficient</a:t>
            </a:r>
            <a:endParaRPr sz="1800" dirty="0"/>
          </a:p>
        </p:txBody>
      </p:sp>
      <p:sp>
        <p:nvSpPr>
          <p:cNvPr id="8" name="Regions text">
            <a:extLst>
              <a:ext uri="{FF2B5EF4-FFF2-40B4-BE49-F238E27FC236}">
                <a16:creationId xmlns:a16="http://schemas.microsoft.com/office/drawing/2014/main" id="{CAC0A043-294A-4619-8BC2-E82EEFE600F9}"/>
              </a:ext>
            </a:extLst>
          </p:cNvPr>
          <p:cNvSpPr>
            <a:spLocks noGrp="1"/>
          </p:cNvSpPr>
          <p:nvPr/>
        </p:nvSpPr>
        <p:spPr>
          <a:xfrm>
            <a:off x="731520" y="3017520"/>
            <a:ext cx="2103120" cy="640080"/>
          </a:xfrm>
          <a:prstGeom prst="rect">
            <a:avLst/>
          </a:prstGeom>
          <a:noFill/>
        </p:spPr>
        <p:txBody>
          <a:bodyPr wrap="square" lIns="0" tIns="0" rIns="0" bIns="0" anchor="t"/>
          <a:lstStyle/>
          <a:p>
            <a:pPr marL="0" indent="0">
              <a:buNone/>
            </a:pPr>
            <a:r>
              <a:rPr sz="1400" dirty="0">
                <a:solidFill>
                  <a:schemeClr val="accent6"/>
                </a:solidFill>
              </a:rPr>
              <a:t>Add and verify more regional offices.</a:t>
            </a:r>
            <a:endParaRPr sz="1400" dirty="0"/>
          </a:p>
        </p:txBody>
      </p:sp>
      <p:sp>
        <p:nvSpPr>
          <p:cNvPr id="9" name="Languages card">
            <a:extLst>
              <a:ext uri="{FF2B5EF4-FFF2-40B4-BE49-F238E27FC236}">
                <a16:creationId xmlns:a16="http://schemas.microsoft.com/office/drawing/2014/main" id="{1A748A13-53FD-43F8-812F-1B2D4510D8E4}"/>
              </a:ext>
            </a:extLst>
          </p:cNvPr>
          <p:cNvSpPr>
            <a:spLocks noGrp="1"/>
          </p:cNvSpPr>
          <p:nvPr/>
        </p:nvSpPr>
        <p:spPr>
          <a:xfrm>
            <a:off x="3291840" y="1691640"/>
            <a:ext cx="2560320" cy="2103120"/>
          </a:xfrm>
          <a:prstGeom prst="roundRect">
            <a:avLst>
              <a:gd name="adj" fmla="val 6522"/>
            </a:avLst>
          </a:prstGeom>
          <a:solidFill>
            <a:schemeClr val="accent2"/>
          </a:solidFill>
        </p:spPr>
        <p:txBody>
          <a:bodyPr/>
          <a:lstStyle/>
          <a:p>
            <a:endParaRPr/>
          </a:p>
        </p:txBody>
      </p:sp>
      <p:sp>
        <p:nvSpPr>
          <p:cNvPr id="10" name="Languages circle">
            <a:extLst>
              <a:ext uri="{FF2B5EF4-FFF2-40B4-BE49-F238E27FC236}">
                <a16:creationId xmlns:a16="http://schemas.microsoft.com/office/drawing/2014/main" id="{F3E414A1-E33C-459F-9964-3EB4BED47DA6}"/>
              </a:ext>
            </a:extLst>
          </p:cNvPr>
          <p:cNvSpPr>
            <a:spLocks noGrp="1"/>
          </p:cNvSpPr>
          <p:nvPr/>
        </p:nvSpPr>
        <p:spPr>
          <a:xfrm>
            <a:off x="3566160" y="1874520"/>
            <a:ext cx="640080" cy="640080"/>
          </a:xfrm>
          <a:prstGeom prst="ellipse">
            <a:avLst/>
          </a:prstGeom>
          <a:solidFill>
            <a:schemeClr val="bg1"/>
          </a:solidFill>
        </p:spPr>
        <p:txBody>
          <a:bodyPr/>
          <a:lstStyle/>
          <a:p>
            <a:endParaRPr/>
          </a:p>
        </p:txBody>
      </p:sp>
      <p:pic>
        <p:nvPicPr>
          <p:cNvPr id="11" name="Languages icon">
            <a:extLst>
              <a:ext uri="{FF2B5EF4-FFF2-40B4-BE49-F238E27FC236}">
                <a16:creationId xmlns:a16="http://schemas.microsoft.com/office/drawing/2014/main" id="{F4C37943-B78A-4B30-A2A5-EF86385DAD4F}"/>
              </a:ext>
            </a:extLst>
          </p:cNvPr>
          <p:cNvPicPr>
            <a:picLocks noChangeAspect="1"/>
          </p:cNvPicPr>
          <p:nvPr/>
        </p:nvPicPr>
        <p:blipFill>
          <a:blip r:embed="rId4"/>
          <a:stretch>
            <a:fillRect/>
          </a:stretch>
        </p:blipFill>
        <p:spPr>
          <a:xfrm>
            <a:off x="3738982" y="2047342"/>
            <a:ext cx="294437" cy="294437"/>
          </a:xfrm>
          <a:prstGeom prst="rect">
            <a:avLst/>
          </a:prstGeom>
        </p:spPr>
      </p:pic>
      <p:sp>
        <p:nvSpPr>
          <p:cNvPr id="13" name="Languages text">
            <a:extLst>
              <a:ext uri="{FF2B5EF4-FFF2-40B4-BE49-F238E27FC236}">
                <a16:creationId xmlns:a16="http://schemas.microsoft.com/office/drawing/2014/main" id="{0BDBAA3F-B3B6-4DF8-99BC-F9C45F8832AD}"/>
              </a:ext>
            </a:extLst>
          </p:cNvPr>
          <p:cNvSpPr>
            <a:spLocks noGrp="1"/>
          </p:cNvSpPr>
          <p:nvPr/>
        </p:nvSpPr>
        <p:spPr>
          <a:xfrm>
            <a:off x="3566160" y="3017520"/>
            <a:ext cx="2103120" cy="640080"/>
          </a:xfrm>
          <a:prstGeom prst="rect">
            <a:avLst/>
          </a:prstGeom>
          <a:noFill/>
        </p:spPr>
        <p:txBody>
          <a:bodyPr wrap="square" lIns="0" tIns="0" rIns="0" bIns="0" anchor="t"/>
          <a:lstStyle/>
          <a:p>
            <a:pPr marL="0" indent="0">
              <a:buNone/>
            </a:pPr>
            <a:r>
              <a:rPr lang="de-DE" sz="1400" dirty="0">
                <a:solidFill>
                  <a:schemeClr val="accent6"/>
                </a:solidFill>
              </a:rPr>
              <a:t> </a:t>
            </a:r>
            <a:endParaRPr sz="1400" dirty="0"/>
          </a:p>
        </p:txBody>
      </p:sp>
      <p:sp>
        <p:nvSpPr>
          <p:cNvPr id="14" name="Partners card">
            <a:extLst>
              <a:ext uri="{FF2B5EF4-FFF2-40B4-BE49-F238E27FC236}">
                <a16:creationId xmlns:a16="http://schemas.microsoft.com/office/drawing/2014/main" id="{C9BCC15B-C593-4312-97A2-5CD386C462F5}"/>
              </a:ext>
            </a:extLst>
          </p:cNvPr>
          <p:cNvSpPr>
            <a:spLocks noGrp="1"/>
          </p:cNvSpPr>
          <p:nvPr/>
        </p:nvSpPr>
        <p:spPr>
          <a:xfrm>
            <a:off x="6126480" y="1691640"/>
            <a:ext cx="2560320" cy="2103120"/>
          </a:xfrm>
          <a:prstGeom prst="roundRect">
            <a:avLst>
              <a:gd name="adj" fmla="val 6522"/>
            </a:avLst>
          </a:prstGeom>
          <a:solidFill>
            <a:schemeClr val="accent2"/>
          </a:solidFill>
        </p:spPr>
        <p:txBody>
          <a:bodyPr/>
          <a:lstStyle/>
          <a:p>
            <a:endParaRPr/>
          </a:p>
        </p:txBody>
      </p:sp>
      <p:sp>
        <p:nvSpPr>
          <p:cNvPr id="15" name="Partners circle">
            <a:extLst>
              <a:ext uri="{FF2B5EF4-FFF2-40B4-BE49-F238E27FC236}">
                <a16:creationId xmlns:a16="http://schemas.microsoft.com/office/drawing/2014/main" id="{64E16AEF-52D4-4F57-8D4C-82CA411F1679}"/>
              </a:ext>
            </a:extLst>
          </p:cNvPr>
          <p:cNvSpPr>
            <a:spLocks noGrp="1"/>
          </p:cNvSpPr>
          <p:nvPr/>
        </p:nvSpPr>
        <p:spPr>
          <a:xfrm>
            <a:off x="6400800" y="1874520"/>
            <a:ext cx="640080" cy="640080"/>
          </a:xfrm>
          <a:prstGeom prst="ellipse">
            <a:avLst/>
          </a:prstGeom>
          <a:solidFill>
            <a:schemeClr val="bg1"/>
          </a:solidFill>
        </p:spPr>
        <p:txBody>
          <a:bodyPr/>
          <a:lstStyle/>
          <a:p>
            <a:endParaRPr/>
          </a:p>
        </p:txBody>
      </p:sp>
      <p:pic>
        <p:nvPicPr>
          <p:cNvPr id="16" name="Partners icon">
            <a:extLst>
              <a:ext uri="{FF2B5EF4-FFF2-40B4-BE49-F238E27FC236}">
                <a16:creationId xmlns:a16="http://schemas.microsoft.com/office/drawing/2014/main" id="{483AB913-446E-40AC-AE04-786CC48EC914}"/>
              </a:ext>
            </a:extLst>
          </p:cNvPr>
          <p:cNvPicPr>
            <a:picLocks noChangeAspect="1"/>
          </p:cNvPicPr>
          <p:nvPr/>
        </p:nvPicPr>
        <p:blipFill>
          <a:blip r:embed="rId5"/>
          <a:stretch>
            <a:fillRect/>
          </a:stretch>
        </p:blipFill>
        <p:spPr>
          <a:xfrm>
            <a:off x="6573622" y="2047342"/>
            <a:ext cx="294437" cy="294437"/>
          </a:xfrm>
          <a:prstGeom prst="rect">
            <a:avLst/>
          </a:prstGeom>
        </p:spPr>
      </p:pic>
      <p:sp>
        <p:nvSpPr>
          <p:cNvPr id="17" name="Partners heading">
            <a:extLst>
              <a:ext uri="{FF2B5EF4-FFF2-40B4-BE49-F238E27FC236}">
                <a16:creationId xmlns:a16="http://schemas.microsoft.com/office/drawing/2014/main" id="{9D4E3F28-845F-4181-A7F5-AC1B5B8ADE31}"/>
              </a:ext>
            </a:extLst>
          </p:cNvPr>
          <p:cNvSpPr>
            <a:spLocks noGrp="1"/>
          </p:cNvSpPr>
          <p:nvPr/>
        </p:nvSpPr>
        <p:spPr>
          <a:xfrm>
            <a:off x="6400800" y="2651760"/>
            <a:ext cx="2103120" cy="365760"/>
          </a:xfrm>
          <a:prstGeom prst="rect">
            <a:avLst/>
          </a:prstGeom>
          <a:noFill/>
        </p:spPr>
        <p:txBody>
          <a:bodyPr wrap="square" lIns="0" tIns="0" rIns="0" bIns="0" anchor="ctr"/>
          <a:lstStyle/>
          <a:p>
            <a:pPr marL="0" indent="0">
              <a:buNone/>
            </a:pPr>
            <a:r>
              <a:rPr lang="de-DE" sz="1800" b="1" dirty="0">
                <a:solidFill>
                  <a:schemeClr val="bg1"/>
                </a:solidFill>
              </a:rPr>
              <a:t>Warm </a:t>
            </a:r>
            <a:r>
              <a:rPr lang="de-DE" sz="1800" b="1" dirty="0" err="1">
                <a:solidFill>
                  <a:schemeClr val="bg1"/>
                </a:solidFill>
              </a:rPr>
              <a:t>handover</a:t>
            </a:r>
            <a:endParaRPr sz="1800" dirty="0"/>
          </a:p>
        </p:txBody>
      </p:sp>
      <p:sp>
        <p:nvSpPr>
          <p:cNvPr id="18" name="Partners text">
            <a:extLst>
              <a:ext uri="{FF2B5EF4-FFF2-40B4-BE49-F238E27FC236}">
                <a16:creationId xmlns:a16="http://schemas.microsoft.com/office/drawing/2014/main" id="{517C2E80-0B3E-411D-BCA4-D9DB985D29A8}"/>
              </a:ext>
            </a:extLst>
          </p:cNvPr>
          <p:cNvSpPr>
            <a:spLocks noGrp="1"/>
          </p:cNvSpPr>
          <p:nvPr/>
        </p:nvSpPr>
        <p:spPr>
          <a:xfrm>
            <a:off x="6400800" y="3017520"/>
            <a:ext cx="2103120" cy="640080"/>
          </a:xfrm>
          <a:prstGeom prst="rect">
            <a:avLst/>
          </a:prstGeom>
          <a:noFill/>
        </p:spPr>
        <p:txBody>
          <a:bodyPr wrap="square" lIns="0" tIns="0" rIns="0" bIns="0" anchor="t"/>
          <a:lstStyle/>
          <a:p>
            <a:pPr marL="0" indent="0">
              <a:buNone/>
            </a:pPr>
            <a:r>
              <a:rPr lang="de-DE" sz="1400" dirty="0">
                <a:solidFill>
                  <a:schemeClr val="accent6"/>
                </a:solidFill>
              </a:rPr>
              <a:t>Be </a:t>
            </a:r>
            <a:r>
              <a:rPr lang="de-DE" sz="1400" dirty="0" err="1">
                <a:solidFill>
                  <a:schemeClr val="accent6"/>
                </a:solidFill>
              </a:rPr>
              <a:t>forwarded</a:t>
            </a:r>
            <a:r>
              <a:rPr lang="de-DE" sz="1400" dirty="0">
                <a:solidFill>
                  <a:schemeClr val="accent6"/>
                </a:solidFill>
              </a:rPr>
              <a:t> to a </a:t>
            </a:r>
            <a:r>
              <a:rPr lang="de-DE" sz="1400" dirty="0" err="1">
                <a:solidFill>
                  <a:schemeClr val="accent6"/>
                </a:solidFill>
              </a:rPr>
              <a:t>call</a:t>
            </a:r>
            <a:r>
              <a:rPr lang="de-DE" sz="1400" dirty="0">
                <a:solidFill>
                  <a:schemeClr val="accent6"/>
                </a:solidFill>
              </a:rPr>
              <a:t> with the </a:t>
            </a:r>
            <a:r>
              <a:rPr lang="de-DE" sz="1400" dirty="0" err="1">
                <a:solidFill>
                  <a:schemeClr val="accent6"/>
                </a:solidFill>
              </a:rPr>
              <a:t>respective</a:t>
            </a:r>
            <a:r>
              <a:rPr lang="de-DE" sz="1400" dirty="0">
                <a:solidFill>
                  <a:schemeClr val="accent6"/>
                </a:solidFill>
              </a:rPr>
              <a:t> </a:t>
            </a:r>
            <a:r>
              <a:rPr lang="de-DE" sz="1400" dirty="0" err="1">
                <a:solidFill>
                  <a:schemeClr val="accent6"/>
                </a:solidFill>
              </a:rPr>
              <a:t>councelling</a:t>
            </a:r>
            <a:r>
              <a:rPr lang="de-DE" sz="1400" dirty="0">
                <a:solidFill>
                  <a:schemeClr val="accent6"/>
                </a:solidFill>
              </a:rPr>
              <a:t> </a:t>
            </a:r>
            <a:r>
              <a:rPr lang="de-DE" sz="1400" dirty="0" err="1">
                <a:solidFill>
                  <a:schemeClr val="accent6"/>
                </a:solidFill>
              </a:rPr>
              <a:t>center</a:t>
            </a:r>
            <a:r>
              <a:rPr lang="de-DE" sz="1400" dirty="0">
                <a:solidFill>
                  <a:schemeClr val="accent6"/>
                </a:solidFill>
              </a:rPr>
              <a:t>. </a:t>
            </a:r>
            <a:endParaRPr sz="1400" dirty="0"/>
          </a:p>
        </p:txBody>
      </p:sp>
      <p:sp>
        <p:nvSpPr>
          <p:cNvPr id="19" name="Thank you">
            <a:extLst>
              <a:ext uri="{FF2B5EF4-FFF2-40B4-BE49-F238E27FC236}">
                <a16:creationId xmlns:a16="http://schemas.microsoft.com/office/drawing/2014/main" id="{8DFCA251-8822-4912-AD09-C695BB33A82D}"/>
              </a:ext>
            </a:extLst>
          </p:cNvPr>
          <p:cNvSpPr>
            <a:spLocks noGrp="1"/>
          </p:cNvSpPr>
          <p:nvPr/>
        </p:nvSpPr>
        <p:spPr>
          <a:xfrm>
            <a:off x="548640" y="3931920"/>
            <a:ext cx="6400800" cy="457200"/>
          </a:xfrm>
          <a:prstGeom prst="rect">
            <a:avLst/>
          </a:prstGeom>
          <a:noFill/>
        </p:spPr>
        <p:txBody>
          <a:bodyPr wrap="square" lIns="0" tIns="0" rIns="0" bIns="0" anchor="ctr"/>
          <a:lstStyle/>
          <a:p>
            <a:pPr marL="0" indent="0">
              <a:buNone/>
            </a:pPr>
            <a:r>
              <a:rPr sz="2000" b="1">
                <a:solidFill>
                  <a:schemeClr val="bg1"/>
                </a:solidFill>
              </a:rPr>
              <a:t>Help us test it.</a:t>
            </a:r>
            <a:endParaRPr sz="2000"/>
          </a:p>
        </p:txBody>
      </p:sp>
      <p:sp>
        <p:nvSpPr>
          <p:cNvPr id="21" name="Languages text">
            <a:extLst>
              <a:ext uri="{FF2B5EF4-FFF2-40B4-BE49-F238E27FC236}">
                <a16:creationId xmlns:a16="http://schemas.microsoft.com/office/drawing/2014/main" id="{D5F614E5-0587-A8AD-25B8-92EC8E3FC1B3}"/>
              </a:ext>
            </a:extLst>
          </p:cNvPr>
          <p:cNvSpPr txBox="1"/>
          <p:nvPr/>
        </p:nvSpPr>
        <p:spPr>
          <a:xfrm>
            <a:off x="3566160" y="3027928"/>
            <a:ext cx="2103120" cy="640080"/>
          </a:xfrm>
          <a:prstGeom prst="rect">
            <a:avLst/>
          </a:prstGeom>
          <a:noFill/>
          <a:ln/>
        </p:spPr>
        <p:txBody>
          <a:bodyPr wrap="square" lIns="0" tIns="0" rIns="0" bIns="0" rtlCol="0" anchor="t"/>
          <a:lstStyle/>
          <a:p>
            <a:pPr marL="0" indent="0">
              <a:buNone/>
            </a:pPr>
            <a:r>
              <a:rPr lang="en-US" sz="1400" dirty="0">
                <a:solidFill>
                  <a:schemeClr val="accent6"/>
                </a:solidFill>
              </a:rPr>
              <a:t>Explore support for more languages.</a:t>
            </a:r>
            <a:endParaRPr lang="en-US" sz="1400" dirty="0"/>
          </a:p>
        </p:txBody>
      </p:sp>
      <p:sp>
        <p:nvSpPr>
          <p:cNvPr id="23" name="Languages heading">
            <a:extLst>
              <a:ext uri="{FF2B5EF4-FFF2-40B4-BE49-F238E27FC236}">
                <a16:creationId xmlns:a16="http://schemas.microsoft.com/office/drawing/2014/main" id="{7D29E316-2386-726C-6011-759B4926C902}"/>
              </a:ext>
            </a:extLst>
          </p:cNvPr>
          <p:cNvSpPr txBox="1"/>
          <p:nvPr/>
        </p:nvSpPr>
        <p:spPr>
          <a:xfrm>
            <a:off x="3566160" y="2651760"/>
            <a:ext cx="2103120" cy="365760"/>
          </a:xfrm>
          <a:prstGeom prst="rect">
            <a:avLst/>
          </a:prstGeom>
          <a:noFill/>
          <a:ln/>
        </p:spPr>
        <p:txBody>
          <a:bodyPr wrap="square" lIns="0" tIns="0" rIns="0" bIns="0" rtlCol="0" anchor="ctr"/>
          <a:lstStyle/>
          <a:p>
            <a:pPr marL="0" indent="0">
              <a:buNone/>
            </a:pPr>
            <a:r>
              <a:rPr lang="en-US" sz="1800" b="1" dirty="0">
                <a:solidFill>
                  <a:schemeClr val="bg1"/>
                </a:solidFill>
              </a:rPr>
              <a:t>Make it accessible</a:t>
            </a:r>
            <a:endParaRPr lang="en-US" sz="1800" dirty="0"/>
          </a:p>
        </p:txBody>
      </p:sp>
    </p:spTree>
    <p:extLst>
      <p:ext uri="{BB962C8B-B14F-4D97-AF65-F5344CB8AC3E}">
        <p14:creationId xmlns:p14="http://schemas.microsoft.com/office/powerpoint/2010/main" val="776284418"/>
      </p:ext>
    </p:extLst>
  </p:cSld>
  <p:clrMapOvr>
    <a:masterClrMapping/>
  </p:clrMapOvr>
</p:sld>
</file>

<file path=ppt/theme/theme1.xml><?xml version="1.0" encoding="utf-8"?>
<a:theme xmlns:a="http://schemas.openxmlformats.org/drawingml/2006/main" name="Caritas Voice to Help">
  <a:themeElements>
    <a:clrScheme name="Caritas Voice to Help">
      <a:dk1>
        <a:srgbClr val="2B2B2B"/>
      </a:dk1>
      <a:lt1>
        <a:srgbClr val="FFFFFF"/>
      </a:lt1>
      <a:dk2>
        <a:srgbClr val="5A5A5A"/>
      </a:dk2>
      <a:lt2>
        <a:srgbClr val="F2F2F2"/>
      </a:lt2>
      <a:accent1>
        <a:srgbClr val="E2001A"/>
      </a:accent1>
      <a:accent2>
        <a:srgbClr val="B50015"/>
      </a:accent2>
      <a:accent3>
        <a:srgbClr val="F7B8BF"/>
      </a:accent3>
      <a:accent4>
        <a:srgbClr val="8C8C8C"/>
      </a:accent4>
      <a:accent5>
        <a:srgbClr val="D9D9D9"/>
      </a:accent5>
      <a:accent6>
        <a:srgbClr val="FDE8EA"/>
      </a:accent6>
      <a:hlink>
        <a:srgbClr val="E2001A"/>
      </a:hlink>
      <a:folHlink>
        <a:srgbClr val="8C8C8C"/>
      </a:folHlink>
    </a:clrScheme>
    <a:fontScheme name="Caritas Voice to Hel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ritas Voice to Hel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aritas Voice to Help">
  <a:themeElements>
    <a:clrScheme name="Caritas Voice to Help">
      <a:dk1>
        <a:srgbClr val="2B2B2B"/>
      </a:dk1>
      <a:lt1>
        <a:srgbClr val="FFFFFF"/>
      </a:lt1>
      <a:dk2>
        <a:srgbClr val="5A5A5A"/>
      </a:dk2>
      <a:lt2>
        <a:srgbClr val="F2F2F2"/>
      </a:lt2>
      <a:accent1>
        <a:srgbClr val="E2001A"/>
      </a:accent1>
      <a:accent2>
        <a:srgbClr val="B50015"/>
      </a:accent2>
      <a:accent3>
        <a:srgbClr val="F7B8BF"/>
      </a:accent3>
      <a:accent4>
        <a:srgbClr val="8C8C8C"/>
      </a:accent4>
      <a:accent5>
        <a:srgbClr val="D9D9D9"/>
      </a:accent5>
      <a:accent6>
        <a:srgbClr val="FDE8EA"/>
      </a:accent6>
      <a:hlink>
        <a:srgbClr val="E2001A"/>
      </a:hlink>
      <a:folHlink>
        <a:srgbClr val="8C8C8C"/>
      </a:folHlink>
    </a:clrScheme>
    <a:fontScheme name="Caritas Voice to Hel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ritas Voice to Hel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787</Words>
  <Application>Microsoft Office PowerPoint</Application>
  <DocSecurity>0</DocSecurity>
  <PresentationFormat>Bildschirmpräsentation (16:9)</PresentationFormat>
  <Paragraphs>73</Paragraphs>
  <Slides>9</Slides>
  <Notes>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9</vt:i4>
      </vt:variant>
    </vt:vector>
  </HeadingPairs>
  <TitlesOfParts>
    <vt:vector size="12" baseType="lpstr">
      <vt:lpstr>Arial</vt:lpstr>
      <vt:lpstr>Calibri</vt:lpstr>
      <vt:lpstr>Caritas Voice to Help</vt:lpstr>
      <vt:lpstr>You need the right help. Where do you turn?</vt:lpstr>
      <vt:lpstr>Caritas HEARO</vt:lpstr>
      <vt:lpstr>The barrier isn't asking for help. It's finding it.</vt:lpstr>
      <vt:lpstr>Say it in your own words. Find the right office.</vt:lpstr>
      <vt:lpstr>Behind the voice: RAG in 20 seconds</vt:lpstr>
      <vt:lpstr>Live demo: from a sentence to support</vt:lpstr>
      <vt:lpstr>PowerPoint-Präsentation</vt:lpstr>
      <vt:lpstr>Trust matters: what we learned</vt:lpstr>
      <vt:lpstr>From 47 tabs to one clear next step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Denise Fetzer</cp:lastModifiedBy>
  <cp:revision>7</cp:revision>
  <dcterms:created xsi:type="dcterms:W3CDTF">2026-10-29T14:46:04Z</dcterms:created>
  <dcterms:modified xsi:type="dcterms:W3CDTF">2026-10-29T15:26:26Z</dcterms:modified>
</cp:coreProperties>
</file>